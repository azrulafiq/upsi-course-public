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3.png"/><Relationship Id="rId6" Type="http://schemas.openxmlformats.org/officeDocument/2006/relationships/image" Target="../media/image-2-6.png"/><Relationship Id="rId7" Type="http://schemas.openxmlformats.org/officeDocument/2006/relationships/image" Target="../media/image-2-3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1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2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1.png"/><Relationship Id="rId3" Type="http://schemas.openxmlformats.org/officeDocument/2006/relationships/image" Target="../media/image-30-1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2.png"/><Relationship Id="rId5" Type="http://schemas.openxmlformats.org/officeDocument/2006/relationships/image" Target="../media/image-32-5.png"/><Relationship Id="rId6" Type="http://schemas.openxmlformats.org/officeDocument/2006/relationships/image" Target="../media/image-32-2.png"/><Relationship Id="rId7" Type="http://schemas.openxmlformats.org/officeDocument/2006/relationships/image" Target="../media/image-32-7.png"/><Relationship Id="rId8" Type="http://schemas.openxmlformats.org/officeDocument/2006/relationships/image" Target="../media/image-32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INSTRUCTOR-LED TECHNICAL TRAINING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Docker &amp; Kubernetes Clusters with Ansible and Terraform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of 2   ·   8:30 AM – 4:30 PM   ·   The big guns: GKE, Terraform &amp; Ansible on Google Cloud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4526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clou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191" y="467935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44988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Kubernetes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20440" y="4297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4526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glob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111" y="467935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44988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Hostname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userNN.gkecluster.eunoai.my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09360" y="4297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37960" y="4526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filecod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031" y="467935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44988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as Code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98280" y="4297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26880" y="4526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gear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9951" y="467935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0" y="44988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at a glance — same app, Google-sized stage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361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83080" y="15544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clou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1835" y="1653235"/>
            <a:ext cx="168250" cy="1682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31720" y="153619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Getting started on Google Cloud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Your service account · gcloud · Lab 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6197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0619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783080" y="20802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uploa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35" y="2179015"/>
            <a:ext cx="168250" cy="1682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31720" y="206197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Shipping to the cloud: registry, GKE &amp; Ingress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Push your image · deploy behind a real hostname · Lab 1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58775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EEF3F7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" y="25877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783080" y="2606040"/>
            <a:ext cx="365760" cy="365760"/>
          </a:xfrm>
          <a:prstGeom prst="ellipse">
            <a:avLst/>
          </a:prstGeom>
          <a:solidFill>
            <a:srgbClr val="B8C6D2"/>
          </a:solidFill>
          <a:ln/>
        </p:spPr>
      </p:sp>
      <p:pic>
        <p:nvPicPr>
          <p:cNvPr id="19" name="Image 2" descr="icons/c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835" y="2704795"/>
            <a:ext cx="168250" cy="1682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31720" y="258775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15 minutes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311353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22" name="Text 17"/>
          <p:cNvSpPr/>
          <p:nvPr/>
        </p:nvSpPr>
        <p:spPr>
          <a:xfrm>
            <a:off x="548640" y="31135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783080" y="31318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s/filecod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835" y="3230575"/>
            <a:ext cx="168250" cy="1682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331720" y="311353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Terraform: Infrastructure as Code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init / plan / apply · Lab 2: provision a VM from code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363931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EEF3F7"/>
          </a:solidFill>
          <a:ln/>
        </p:spPr>
      </p:sp>
      <p:sp>
        <p:nvSpPr>
          <p:cNvPr id="27" name="Text 21"/>
          <p:cNvSpPr/>
          <p:nvPr/>
        </p:nvSpPr>
        <p:spPr>
          <a:xfrm>
            <a:off x="548640" y="36393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12:45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1783080" y="3657600"/>
            <a:ext cx="365760" cy="365760"/>
          </a:xfrm>
          <a:prstGeom prst="ellipse">
            <a:avLst/>
          </a:prstGeom>
          <a:solidFill>
            <a:srgbClr val="B8C6D2"/>
          </a:solidFill>
          <a:ln/>
        </p:spPr>
      </p:sp>
      <p:pic>
        <p:nvPicPr>
          <p:cNvPr id="29" name="Image 4" descr="icons/clo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835" y="3756355"/>
            <a:ext cx="168250" cy="1682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331720" y="363931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— 60 minutes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48640" y="416509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32" name="Text 25"/>
          <p:cNvSpPr/>
          <p:nvPr/>
        </p:nvSpPr>
        <p:spPr>
          <a:xfrm>
            <a:off x="548640" y="41650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13:45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1783080" y="41833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5" descr="icons/gears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1835" y="4282135"/>
            <a:ext cx="168250" cy="16825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331720" y="416509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Ansible: configuration management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Playbooks &amp; idempotency · Lab 3: capstone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548640" y="469087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EEF3F7"/>
          </a:solidFill>
          <a:ln/>
        </p:spPr>
      </p:sp>
      <p:sp>
        <p:nvSpPr>
          <p:cNvPr id="37" name="Text 29"/>
          <p:cNvSpPr/>
          <p:nvPr/>
        </p:nvSpPr>
        <p:spPr>
          <a:xfrm>
            <a:off x="548640" y="4690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1783080" y="4709160"/>
            <a:ext cx="365760" cy="365760"/>
          </a:xfrm>
          <a:prstGeom prst="ellipse">
            <a:avLst/>
          </a:prstGeom>
          <a:solidFill>
            <a:srgbClr val="B8C6D2"/>
          </a:solidFill>
          <a:ln/>
        </p:spPr>
      </p:sp>
      <p:pic>
        <p:nvPicPr>
          <p:cNvPr id="39" name="Image 6" descr="icons/clock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1835" y="4807915"/>
            <a:ext cx="168250" cy="16825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2331720" y="469087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15 minutes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548640" y="521665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42" name="Text 33"/>
          <p:cNvSpPr/>
          <p:nvPr/>
        </p:nvSpPr>
        <p:spPr>
          <a:xfrm>
            <a:off x="548640" y="52166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1783080" y="52349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4" name="Image 7" descr="icons/flask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1835" y="5333695"/>
            <a:ext cx="168250" cy="16825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2331720" y="521665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Mission board: open lab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Challenges, break-fixes, bragging rights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548640" y="574243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47" name="Text 37"/>
          <p:cNvSpPr/>
          <p:nvPr/>
        </p:nvSpPr>
        <p:spPr>
          <a:xfrm>
            <a:off x="548640" y="57424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1783080" y="576072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9" name="Image 8" descr="icons/grad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1835" y="5859475"/>
            <a:ext cx="168250" cy="16825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2331720" y="574243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Wrap-up, where to go next &amp; course close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LAPTOP TO CLOUD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today — and what doesn't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EF3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 · minikube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node: your laptop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minikube image load — no registry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via kubectl port-forward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is yours alone — break anything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disposable, offline-friendly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3EEF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· GKE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11112" y="2377440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Google-managed control plane, real node pool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pushed to a private Artifact Registry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via a public hostname (shared Ingress)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is SHARED — namespaces + resource requests are the house rules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real money — which is why Terraform tears it down in one command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0243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607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 change: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kubectl, the YAML, Deployments, Services, rolling updates — every skill from yesterday transfers untouched. Same game, bigger stadium.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on Google Cloud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 – 09:15   ·   includes Lab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five GCP building blocks we use all day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the gcloud CLI with your personal service account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first commands against the class project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18" name="Image 3" descr="icons/clou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GCP pieces you need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7" name="Image 0" descr="icons/tre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83831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63677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container for everything the class creates — VMs, clusters, images. Ours: acserver-497017.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serve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273442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2532888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 (VM)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machine in Google's data centre. Today's cast: the Ansible targets your groups create in Lab 2 — plus the class-workspace fallback.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50215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user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3630534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429000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identity. You each get your own key file — every command you run acts as that identity.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439826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4526646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4325112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shelf for Docker images. You push images here in Lab 1 and pull them everywhere else.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5294376"/>
            <a:ext cx="475488" cy="475488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9" name="Image 4" descr="icons/node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62" y="5422758"/>
            <a:ext cx="218724" cy="2187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16736" y="5221224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— Google Kubernetes Engine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Kubernetes cluster. Google runs the brain; we deploy the workloads in Lab 2.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gcloud — Google Cloud from your terminal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ke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97547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773936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once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your service account key — from then on, every gcloud command acts as you.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m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302703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2825496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defaults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and zone defaults save you typing them on every single command.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9502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ey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407859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877056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before you touch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describe commands are read-only — explore freely, you cannot break anything.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806440" y="1600200"/>
            <a:ext cx="5806440" cy="3931920"/>
          </a:xfrm>
          <a:prstGeom prst="roundRect">
            <a:avLst>
              <a:gd name="adj" fmla="val 186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007608" y="176479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7" name="Shape 12"/>
          <p:cNvSpPr/>
          <p:nvPr/>
        </p:nvSpPr>
        <p:spPr>
          <a:xfrm>
            <a:off x="6208776" y="176479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9944" y="176479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9" name="Text 14"/>
          <p:cNvSpPr/>
          <p:nvPr/>
        </p:nvSpPr>
        <p:spPr>
          <a:xfrm>
            <a:off x="6675120" y="16916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062472" y="1984248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become your service account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auth activate-service-account \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--key-file=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user01-key.json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set defaults for the day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config set project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acserver-497017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config set compute/zone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asia-southeast1-a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sanity checks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auth list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compute instances list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CEEDB"/>
          </a:solidFill>
          <a:ln/>
        </p:spPr>
      </p:sp>
      <p:pic>
        <p:nvPicPr>
          <p:cNvPr id="22" name="Image 3" descr="icons/warn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87044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57150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 file is your identity all day.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in your home directory, never paste its contents anywhere, never commit it to Git.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pic>
        <p:nvPicPr>
          <p:cNvPr id="5" name="Image 0" descr="icons/flas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06040" y="40233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 and look around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287000" y="457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your service account with your key file (userNN)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386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default project and compute zone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8992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gcloud auth list — confirm who you are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78992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project’s VMs and clusters — meet today’s cast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66928" y="42153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78992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One-time: gcloud auth configure-docker for the registry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3EEF4"/>
          </a:solidFill>
          <a:ln/>
        </p:spPr>
      </p:sp>
      <p:pic>
        <p:nvPicPr>
          <p:cNvPr id="27" name="Image 1" descr="icon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93392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SUCCEEDED WHEN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7973568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gcloud auth list shows your service account active, and docker is authorized to talk to asia-southeast1-docker.pkg.dev.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7726680" y="379476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CEEDB"/>
          </a:solidFill>
          <a:ln/>
        </p:spPr>
      </p:sp>
      <p:pic>
        <p:nvPicPr>
          <p:cNvPr id="31" name="Image 2" descr="icons/bulb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7973568" y="44074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ran the three auth commands last night, this lab is a 3-minute victory lap. Your service account is your identity all day — guard the key file, never commit it to Git.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step-by-step commands in your Lab Guide — this slide is just the map.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to the Cloud — Registry, GKE &amp; Ingress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09:15 – 10:45   ·   includes Lab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yesterday’s image to a private Artifact Registry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it to a shared GKE cluster — politely (namespaces + requests)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real public hostname through the class Ingress</a:t>
            </a:r>
            <a:endParaRPr lang="en-US" sz="1600" dirty="0"/>
          </a:p>
        </p:txBody>
      </p:sp>
      <p:pic>
        <p:nvPicPr>
          <p:cNvPr id="17" name="Image 3" descr="icons/check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50200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9926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cloud-scale self-healing with your own eyes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20" name="Image 4" descr="icons/uploa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the image: build → tag → push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file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2" y="1773022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97180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ta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262" y="177302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0248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5216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400800" y="1600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icons/uploa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22" y="177302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0608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73252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281160" y="1600200"/>
            <a:ext cx="640080" cy="64008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9" name="Image 3" descr="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982" y="1773022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30968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251460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267919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3" name="Shape 17"/>
          <p:cNvSpPr/>
          <p:nvPr/>
        </p:nvSpPr>
        <p:spPr>
          <a:xfrm>
            <a:off x="950976" y="267919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4" name="Shape 18"/>
          <p:cNvSpPr/>
          <p:nvPr/>
        </p:nvSpPr>
        <p:spPr>
          <a:xfrm>
            <a:off x="1152144" y="267919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25" name="Text 19"/>
          <p:cNvSpPr/>
          <p:nvPr/>
        </p:nvSpPr>
        <p:spPr>
          <a:xfrm>
            <a:off x="1417320" y="26060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04672" y="2898648"/>
            <a:ext cx="10561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let docker authenticate to Artifact Registry via gcloud (once)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auth configure-docker asia-southeast1-docker.pkg.dev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hello-web 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hello-web \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asia-southeast1-docker.pkg.dev/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acserver-497017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user01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/hello-web: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asia-southeast1-docker.pkg.dev/acserver-497017/labs/user01/hello-web:v1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decodes as   </a:t>
            </a:r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REGION-docker.pkg.dev / PROJECT / REPOSITORY / IMAGE : TAG</a:t>
            </a:r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 tag like v1 is just a human-friendly label for a specific image version.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GKE — Kubernetes without the hard parts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clou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83831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63677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runs the control plane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server, scheduler and etcd database are managed, patched and backed up by Google. You never see those machines.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wren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282586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2624328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repaired for you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Auto-repair replaces unhealthy nodes; auto-upgrade keeps versions current. Node pools can autoscale with demand.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68503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key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3813414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611880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GCP integration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Services become real GCP load balancers; Artifact Registry images pull without extra credentials.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467258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terminal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4800966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4599432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connect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get-credentials writes your kubeconfig — after that, plain kubectl just works.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9808" y="578815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0" name="Shape 14"/>
          <p:cNvSpPr/>
          <p:nvPr/>
        </p:nvSpPr>
        <p:spPr>
          <a:xfrm>
            <a:off x="950976" y="578815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1" name="Shape 15"/>
          <p:cNvSpPr/>
          <p:nvPr/>
        </p:nvSpPr>
        <p:spPr>
          <a:xfrm>
            <a:off x="1152144" y="578815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22" name="Text 16"/>
          <p:cNvSpPr/>
          <p:nvPr/>
        </p:nvSpPr>
        <p:spPr>
          <a:xfrm>
            <a:off x="804672" y="6007608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container clusters get-credentials training-cluster --zone asia-southeast1-a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then: kubectl get nodes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Namespaces — your own room in a shared house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914400" cy="91440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7" name="Image 0" descr="icons/tre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78308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namespace is a folder inside the cluster.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only need to be unique within a namespace, and kubectl commands are scoped to one — so twelve people can each run hello-web on the same cluster without collisions.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676656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36499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1" name="Shape 8"/>
          <p:cNvSpPr/>
          <p:nvPr/>
        </p:nvSpPr>
        <p:spPr>
          <a:xfrm>
            <a:off x="950976" y="336499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2" name="Shape 9"/>
          <p:cNvSpPr/>
          <p:nvPr/>
        </p:nvSpPr>
        <p:spPr>
          <a:xfrm>
            <a:off x="1152144" y="336499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3" name="Text 10"/>
          <p:cNvSpPr/>
          <p:nvPr/>
        </p:nvSpPr>
        <p:spPr>
          <a:xfrm>
            <a:off x="1417320" y="32918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" y="3584448"/>
            <a:ext cx="626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today: one shared cluster, one namespace each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namespace user01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it your default so you can't forget -n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config set-context --current \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--namespace=user01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26680" y="3200400"/>
            <a:ext cx="3886200" cy="2377440"/>
          </a:xfrm>
          <a:prstGeom prst="roundRect">
            <a:avLst>
              <a:gd name="adj" fmla="val 3846"/>
            </a:avLst>
          </a:prstGeom>
          <a:solidFill>
            <a:srgbClr val="FCEEDB"/>
          </a:solidFill>
          <a:ln/>
        </p:spPr>
      </p:sp>
      <p:pic>
        <p:nvPicPr>
          <p:cNvPr id="16" name="Image 1" descr="icons/warn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42900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1248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RULE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973568" y="388620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only inside your own userNN namespace today. kubectl get pods -A shows everyone's pods — look, but don't touch.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Shared-cluster etiquette — requests &amp; limits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laptop, your pods had the machine to themselves. On a shared cluster, every pod must declare its appetite: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6035040" cy="2514600"/>
          </a:xfrm>
          <a:prstGeom prst="roundRect">
            <a:avLst>
              <a:gd name="adj" fmla="val 290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22199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222199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148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deployment.yaml (excerpt)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441448"/>
            <a:ext cx="5532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requests: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reserved for you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cpu: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"50m"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0.05 of a core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memory: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"64Mi"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limits: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your ceiling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cpu: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"250m"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burst, never more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memory: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"128Mi"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2167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icons/sca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542" y="2295510"/>
            <a:ext cx="218724" cy="2187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71816" y="2093976"/>
            <a:ext cx="3941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Requests: how the scheduler packs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reserves exactly what you request — it’s how the whole class fits on one 4-core node with room to spare.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995160" y="35387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icons/shiel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542" y="3667110"/>
            <a:ext cx="218724" cy="2187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71816" y="3465576"/>
            <a:ext cx="3941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how the kernel protects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 your CPU limit and you get throttled, not your neighbour. Exceed memory and your pod is killed — not theirs.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6995160" y="49103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42" y="5038710"/>
            <a:ext cx="218724" cy="2187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71816" y="4837176"/>
            <a:ext cx="3941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reflex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clusters often refuse pods without requests. Declaring appetite isn’t classroom bureaucracy — it’s production hygiene.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are the norm: a pod that needs a whole core is the exception, not the rule.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 — one front door, a hostname each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EEF3F7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glob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036" y="1918868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16916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userNN.gkecluster.eunoai.my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82112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16002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0243E"/>
          </a:solidFill>
          <a:ln/>
        </p:spPr>
      </p:sp>
      <p:sp>
        <p:nvSpPr>
          <p:cNvPr id="12" name="Shape 9"/>
          <p:cNvSpPr/>
          <p:nvPr/>
        </p:nvSpPr>
        <p:spPr>
          <a:xfrm>
            <a:off x="3721608" y="17830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icons/clou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396" y="1918868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25112" y="16916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nginx-ingress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LoadBalancer IP for the whole class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062472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00800" y="16002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EEF3F7"/>
          </a:solidFill>
          <a:ln/>
        </p:spPr>
      </p:sp>
      <p:sp>
        <p:nvSpPr>
          <p:cNvPr id="17" name="Shape 13"/>
          <p:cNvSpPr/>
          <p:nvPr/>
        </p:nvSpPr>
        <p:spPr>
          <a:xfrm>
            <a:off x="6601968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cons/networ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756" y="1918868"/>
            <a:ext cx="231343" cy="231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05472" y="16916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the Host header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942832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9281160" y="16002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EEF3F7"/>
          </a:solidFill>
          <a:ln/>
        </p:spPr>
      </p:sp>
      <p:sp>
        <p:nvSpPr>
          <p:cNvPr id="22" name="Shape 17"/>
          <p:cNvSpPr/>
          <p:nvPr/>
        </p:nvSpPr>
        <p:spPr>
          <a:xfrm>
            <a:off x="9482328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cons/box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8116" y="1918868"/>
            <a:ext cx="231343" cy="23134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85832" y="16916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pods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namespace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3154680"/>
            <a:ext cx="6583680" cy="3063240"/>
          </a:xfrm>
          <a:prstGeom prst="roundRect">
            <a:avLst>
              <a:gd name="adj" fmla="val 238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" y="33192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7" name="Shape 21"/>
          <p:cNvSpPr/>
          <p:nvPr/>
        </p:nvSpPr>
        <p:spPr>
          <a:xfrm>
            <a:off x="950976" y="33192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8" name="Shape 22"/>
          <p:cNvSpPr/>
          <p:nvPr/>
        </p:nvSpPr>
        <p:spPr>
          <a:xfrm>
            <a:off x="1152144" y="33192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29" name="Text 23"/>
          <p:cNvSpPr/>
          <p:nvPr/>
        </p:nvSpPr>
        <p:spPr>
          <a:xfrm>
            <a:off x="1417320" y="3246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ingress.yaml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804672" y="3538728"/>
            <a:ext cx="6080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networking.k8s.io/v1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name: hello-web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ingressClassName: nginx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host: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user01.gkecluster.eunoai.my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paths: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path: /   pathType: Prefix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backend: { service: { name: hello-web,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port: { number: 80 } } }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45236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4" descr="icons/glob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742" y="3438510"/>
            <a:ext cx="218724" cy="21872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29016" y="323697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wildcard DNS record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*.gkecluster.eunoai.my points at the single ingress IP. The ingress reads the Host header and routes to the right namespace's Service.</a:t>
            </a:r>
            <a:endParaRPr lang="en-US" sz="1450" dirty="0"/>
          </a:p>
        </p:txBody>
      </p:sp>
      <p:sp>
        <p:nvSpPr>
          <p:cNvPr id="34" name="Shape 27"/>
          <p:cNvSpPr/>
          <p:nvPr/>
        </p:nvSpPr>
        <p:spPr>
          <a:xfrm>
            <a:off x="7452360" y="43616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5" descr="icons/tag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742" y="4490070"/>
            <a:ext cx="218724" cy="2187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129016" y="428853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address all course long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userNN.gkecluster.eunoai.my — live from Lab 1 until teardown. Send it to a friend; it's a real URL.</a:t>
            </a:r>
            <a:endParaRPr lang="en-US" sz="1450" dirty="0"/>
          </a:p>
        </p:txBody>
      </p:sp>
      <p:sp>
        <p:nvSpPr>
          <p:cNvPr id="37" name="Shape 29"/>
          <p:cNvSpPr/>
          <p:nvPr/>
        </p:nvSpPr>
        <p:spPr>
          <a:xfrm>
            <a:off x="7452360" y="54132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6" descr="icons/scal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742" y="5541630"/>
            <a:ext cx="218724" cy="21872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129016" y="534009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LoadBalancer each?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costs a public IP. Real clusters run dozens of apps behind one ingress — exactly what we're doing.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pic>
        <p:nvPicPr>
          <p:cNvPr id="5" name="Image 0" descr="icons/flas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06040" y="40233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it: registry → GKE → real hostname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287000" y="457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push your Day 1 image to Artifact Registry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386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get-credentials to the training cluster; claim namespace userNN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8992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resources requests/limits to yesterday’s deployment.yaml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78992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ingress.yaml with host userNN.gkecluster.eunoai.my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66928" y="42153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78992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 three; browse your hostname from your phone, even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566928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800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4; delete a pod — same self-heal, bigger stage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3EEF4"/>
          </a:solidFill>
          <a:ln/>
        </p:spPr>
      </p:sp>
      <p:pic>
        <p:nvPicPr>
          <p:cNvPr id="30" name="Image 1" descr="icon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93392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SUCCEEDED WHEN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973568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serves at userNN.gkecluster.eunoai.my — a real URL on the public internet — from 4 pods that heal themselves.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726680" y="379476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CEEDB"/>
          </a:solidFill>
          <a:ln/>
        </p:spPr>
      </p:sp>
      <p:pic>
        <p:nvPicPr>
          <p:cNvPr id="34" name="Image 2" descr="icons/bulb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7973568" y="44074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YAML as yesterday plus two additions: the resources block (shared-cluster etiquette) and the Ingress (your hostname). Stay inside your own namespace — house rule number one.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step-by-step commands in your Lab Guide — this slide is just the map.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— Infrastructure as Code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– 12:45   ·   includes Lab 2 (may run into lunch)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infrastructure belongs in version-controlled code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init → plan → apply → destroy workflow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basic HCL: providers, resources, variables, outputs</a:t>
            </a:r>
            <a:endParaRPr lang="en-US" sz="1600" dirty="0"/>
          </a:p>
        </p:txBody>
      </p:sp>
      <p:pic>
        <p:nvPicPr>
          <p:cNvPr id="17" name="Image 3" descr="icons/check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50200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9926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real GCP VM from a .tf file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20" name="Image 4" descr="icons/filecod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clicking things into existence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EF3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clicking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repeatable — can you recreate this VM identically in a new project? From memory?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 — nobody approves a click before it happens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— “who changed that firewall rule, and why?”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— every environment slowly becomes unique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— 40 VMs means 40 rounds of the same wizard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3EEF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11112" y="237744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— the same files produce the same infrastructure, every time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— infra changes go through the same review as app code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— git log is your audit trail; git revert is your undo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— the code is the always-current diagram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— 40 VMs is a count = 40, not an afternoon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Declarative: you say WHAT, Terraform works out HOW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EF3F7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9659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file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095" y="2175815"/>
            <a:ext cx="357530" cy="3575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 VM, e2-small, Debian 12, in asia-southeast1”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1480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480560" y="17373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EF3F7"/>
          </a:solidFill>
          <a:ln/>
        </p:spPr>
      </p:sp>
      <p:sp>
        <p:nvSpPr>
          <p:cNvPr id="13" name="Shape 10"/>
          <p:cNvSpPr/>
          <p:nvPr/>
        </p:nvSpPr>
        <p:spPr>
          <a:xfrm>
            <a:off x="5852160" y="19659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sca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015" y="2175815"/>
            <a:ext cx="357530" cy="3575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compares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09160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 vs the state file vs real GCP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0467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412480" y="17373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EF3F7"/>
          </a:solidFill>
          <a:ln/>
        </p:spPr>
      </p:sp>
      <p:sp>
        <p:nvSpPr>
          <p:cNvPr id="19" name="Shape 15"/>
          <p:cNvSpPr/>
          <p:nvPr/>
        </p:nvSpPr>
        <p:spPr>
          <a:xfrm>
            <a:off x="9784080" y="19659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gea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3935" y="2175815"/>
            <a:ext cx="357530" cy="3575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acts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641080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updates or deletes to close the gap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1788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4307190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16736" y="410565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file is Terraform's memory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 records what Terraform built and maps your code to real resource IDs. Lose it and Terraform forgets it owns anything.</a:t>
            </a:r>
            <a:endParaRPr lang="en-US" sz="1450" dirty="0"/>
          </a:p>
        </p:txBody>
      </p:sp>
      <p:sp>
        <p:nvSpPr>
          <p:cNvPr id="26" name="Shape 20"/>
          <p:cNvSpPr/>
          <p:nvPr/>
        </p:nvSpPr>
        <p:spPr>
          <a:xfrm>
            <a:off x="640080" y="52303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icons/ban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62" y="5358750"/>
            <a:ext cx="218724" cy="2187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16736" y="515721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about state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 it by hand, never delete it. (In real teams it lives in a shared remote backend — mentioned, not covered, today.)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workflow: four commands, one habit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3EEF4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wre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70" y="230063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folder — downloads the Google provider plugin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36392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37560" y="18288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3EEF4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ey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90" y="2300630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2044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— shows exactly what would change, changes nothing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25312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126480" y="18288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3EEF4"/>
          </a:solidFill>
          <a:ln/>
        </p:spPr>
      </p:sp>
      <p:sp>
        <p:nvSpPr>
          <p:cNvPr id="19" name="Shape 15"/>
          <p:cNvSpPr/>
          <p:nvPr/>
        </p:nvSpPr>
        <p:spPr>
          <a:xfrm>
            <a:off x="7086600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play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110" y="2300630"/>
            <a:ext cx="336499" cy="3364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30936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plan — this is when GCP resources appear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714232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8915400" y="18288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/>
        </p:spPr>
      </p:sp>
      <p:sp>
        <p:nvSpPr>
          <p:cNvPr id="25" name="Shape 20"/>
          <p:cNvSpPr/>
          <p:nvPr/>
        </p:nvSpPr>
        <p:spPr>
          <a:xfrm>
            <a:off x="9875520" y="2103120"/>
            <a:ext cx="731520" cy="73152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26" name="Image 3" descr="icons/tras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030" y="2300630"/>
            <a:ext cx="336499" cy="33649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91540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09828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tears down everything this config created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47548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CEEDB"/>
          </a:solidFill>
          <a:ln/>
        </p:spPr>
      </p:sp>
      <p:pic>
        <p:nvPicPr>
          <p:cNvPr id="30" name="Image 4" descr="icons/warn-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29200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4754880"/>
            <a:ext cx="10012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 that separates professionals: read the plan. </a:t>
            </a:r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ends with “Plan: X to add, Y to change, Z to destroy.” If you expected 1 to add and it says 3 to destroy — stop. The plan is your seatbelt.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Terraform configuration (HCL)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583680" cy="4709160"/>
          </a:xfrm>
          <a:prstGeom prst="roundRect">
            <a:avLst>
              <a:gd name="adj" fmla="val 155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7190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7190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645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6080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"google" {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which cloud + how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 = var.project_id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 = "asia-southeast1"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google_compute_instance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= "group01-ansible-target"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machine_type = "e2-small"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zone         = "asia-southeast1-a"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boot_disk { initialize_params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 = "debian-cloud/debian-12" }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network_interface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 = "default"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access_config = internal IP only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709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clou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742" y="183831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29016" y="163677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block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cloud and its defaults. terraform init downloads this plugin.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452360" y="286207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ta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742" y="2990454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29016" y="2788920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“TYPE” “NAME”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is the catalogue entry (google_compute_instance); NAME is your local nickname to reference it elsewhere.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7452360" y="401421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icons/list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742" y="4142598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29016" y="3941064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= the spec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inside the braces describes the machine — same fields you'd click through in the console, now written down.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7452360" y="51663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boo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742" y="5294742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29016" y="5093208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memorise this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lives in the Terraform Registry docs — copy the example, adapt, plan, apply.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in, outputs out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7190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7190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645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 / outputs.tf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6080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"project_id" { type = string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"group"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= string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"group01"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override per group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used as:  name = "${var.group}-ansible-target"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"vm_ip"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google_compute_instance.web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.network_interface[0].network_ip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internal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52360" y="18470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shuff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742" y="197547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29016" y="177393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make configs reusable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config, twelve people: everyone applies the same files with their own var.user. Same trick scales to dev / staging / prod.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452360" y="35387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uploa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742" y="3667110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29016" y="346557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feed the next tool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apply, terraform output vm_ip prints your new VM's address. In Lab 3 that IP goes straight into Ansible's inventory — tools chaining together.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seam where Terraform ends and Ansible begins — remember vm_ip, you'll use it within the hour.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twist: your cluster was Terraform all along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GKE cluster you used in Lab 1 was never clicked into existence. This is the actual config that created it — walked through together, not typed: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583680" cy="3657600"/>
          </a:xfrm>
          <a:prstGeom prst="roundRect">
            <a:avLst>
              <a:gd name="adj" fmla="val 2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26771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26771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226771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194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gke.tf (excerpt)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487168"/>
            <a:ext cx="6080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google_container_cluster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= "training-cluster"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= "asia-southeast1-a"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initial_node_count = 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google_container_node_pool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cluster    = google_container_cluster.training.name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node_count = 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node_config { machine_type = "e2-standard-4"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52360" y="23042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icons/node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742" y="2432670"/>
            <a:ext cx="218724" cy="2187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29016" y="223113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is just a resource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running all twelve of your apps is ~15 lines of HCL. Same workflow: plan, apply, wait ten minutes.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452360" y="3995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icon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742" y="4124310"/>
            <a:ext cx="218724" cy="2187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29016" y="392277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drift, provably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plan against it right now and it says: “No changes.” Reality matches code — that is the whole point of IaC.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pic>
        <p:nvPicPr>
          <p:cNvPr id="5" name="Image 0" descr="icons/flas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06040" y="40233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 infrastructure from code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287000" y="457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your assigned lab group (on the board; one driver)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386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group variable (groupNN) in terraform.tfvars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8992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init, then terraform plan — and READ the plan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78992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— watch your VM come into existence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66928" y="42153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78992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gcloud compute instances list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566928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800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vm_ip: internal only — reaching it is Lab 3's lesson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3EEF4"/>
          </a:solidFill>
          <a:ln/>
        </p:spPr>
      </p:sp>
      <p:pic>
        <p:nvPicPr>
          <p:cNvPr id="30" name="Image 1" descr="icon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93392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SUCCEEDED WHEN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973568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VM named groupNN-ansible-target exists in GCP, created entirely from code, and terraform output vm_ip prints its internal address.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726680" y="379476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CEEDB"/>
          </a:solidFill>
          <a:ln/>
        </p:spPr>
      </p:sp>
      <p:pic>
        <p:nvPicPr>
          <p:cNvPr id="34" name="Image 2" descr="icons/bulb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7973568" y="44074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run terraform destroy at the end — Lab 3 configures this exact VM. It is a blank Debian box right now: no Docker, no app. That's Ansible's job.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step-by-step commands in your Lab Guide — this slide is just the map.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— Configuration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13:45 – 15:15   ·   includes Lab 3 (capstone)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line between Terraform's job and Ansible's job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playbook: hosts, tasks, modules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idempotency and why it beats shell scripts</a:t>
            </a:r>
            <a:endParaRPr lang="en-US" sz="1600" dirty="0"/>
          </a:p>
        </p:txBody>
      </p:sp>
      <p:pic>
        <p:nvPicPr>
          <p:cNvPr id="17" name="Image 3" descr="icons/check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50200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9926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blank Lab 2 VM into a running Docker host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20" name="Image 4" descr="icons/gear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vs Ansible — today's most important distinction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EF3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 ·  PROVISIONS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house — VMs, networks, clusters, load balancers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cloud APIs (GCP, AWS, Azure...)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tracks a state file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that the machine exists with the right shape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an e2-small VM called web-1”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3EEF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 ·  CONFIGURES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11112" y="2377440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Furnishes the house — packages, config files, services, app deploys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machines over plain SSH — agentless, nothing to install on targets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tasks, no state file — checks reality on every run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what is installed and running inside the machine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sure web-1 has Docker installed and my container running”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0243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607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mental model: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builds it, Ansible makes it useful. (They overlap at the edges — this split is the sane default.)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Ansible works — four words: SSH, inventory, modules, playbooks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termin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2151126"/>
            <a:ext cx="315468" cy="3154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2880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 — the only place Ansible is installed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0332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SSH 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12080" y="169164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/>
        </p:spPr>
      </p:sp>
      <p:sp>
        <p:nvSpPr>
          <p:cNvPr id="12" name="Shape 9"/>
          <p:cNvSpPr/>
          <p:nvPr/>
        </p:nvSpPr>
        <p:spPr>
          <a:xfrm>
            <a:off x="5440680" y="1965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serve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846" y="2151126"/>
            <a:ext cx="315468" cy="3154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18288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groupNN-ansible-target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here — agentless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503920" y="169164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/>
        </p:spPr>
      </p:sp>
      <p:sp>
        <p:nvSpPr>
          <p:cNvPr id="16" name="Shape 12"/>
          <p:cNvSpPr/>
          <p:nvPr/>
        </p:nvSpPr>
        <p:spPr>
          <a:xfrm>
            <a:off x="8732520" y="1965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serve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686" y="2151126"/>
            <a:ext cx="315468" cy="3154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55480" y="18288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any other machine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here — agentless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4472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s/clipboar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3575670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16736" y="337413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— the who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text list of machines, grouped: [web] 34.126.x.x. Yours will contain exactly one line — your Lab 3 VM's IP.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40080" y="44074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icons/cube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62" y="4535790"/>
            <a:ext cx="218724" cy="2187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16736" y="433425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— the verbs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installs packages, copy ships files, service manages daemons, docker_container runs containers. Thousands exist; you describe outcomes, modules do the work.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640080" y="53675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icons/list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462" y="5495910"/>
            <a:ext cx="218724" cy="2187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16736" y="529437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— the recipe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file listing which hosts get which tasks, in order. Next slide dissects one.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playbook — Lab 3, verbatim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675120" cy="4709160"/>
          </a:xfrm>
          <a:prstGeom prst="roundRect">
            <a:avLst>
              <a:gd name="adj" fmla="val 155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7190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7190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6459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site.yml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61722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a blank VM into a Docker host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group from the inventory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become: true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= sudo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Install Docker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ansible.builtin.apt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docker.io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update_cache: true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Run the hello-web container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community.docker.docker_container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hello-web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asia-...-docker.pkg.dev/.../hello-web:v1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ports: ["80:8080"]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18013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ta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2182" y="192975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0456" y="172821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has a name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show in the output as the playbook runs — your progress bar and your documentation at once.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543800" y="32644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cube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392790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0456" y="319125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then arguments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and docker_container are modules. You state the outcome (state: present / started), not the commands.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7543800" y="47274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icons/box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182" y="4855830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0456" y="465429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image line is the app you built yesterday morning, pushed this morning. Two days ago you didn't know what a container was; now a robot deploys yours.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— one playbook, many clients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playbook with values hard-coded into tasks deploys exactly one thing. Variables turn it into a product: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6583680" cy="3108960"/>
          </a:xfrm>
          <a:prstGeom prst="roundRect">
            <a:avLst>
              <a:gd name="adj" fmla="val 235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22199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222199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148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wp.yml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441448"/>
            <a:ext cx="6080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WordPress server, from nothing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web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# defaults live here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brand: nusantara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db_pass: wppass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...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env: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MARIADB_PASSWORD: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"{{ db_pass }}"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a different client without touching the file: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wp.yml --extra-vars "brand=seri db_pass=..."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2167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icons/ta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742" y="2295510"/>
            <a:ext cx="218724" cy="2187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29016" y="209397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double braces }} = fill in here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templating — the same braces work in task arguments, file templates, and names.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452360" y="35844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icons/shuff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742" y="3712830"/>
            <a:ext cx="218724" cy="2187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29016" y="351129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--extra-vars wins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values override the vars: block — defaults in the file, specifics at run time. One playbook, N deployments.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452360" y="50017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ba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742" y="5130150"/>
            <a:ext cx="218724" cy="2187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29016" y="4928616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ALWAYS variables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Hard-coding a password into a task means editing code to rotate a secret. (Real life adds Ansible Vault — encrypted variables — on top.)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you change to deploy brand #2?” — if the answer is longer than one --extra-vars, the playbook isn't finished.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— Ansible's superpower over shell scripts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playbook twice. A shell script would install Docker twice, error out, or make a mess. Ansible checks reality first and only acts on the gap: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26771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26771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226771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1945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#1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487168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run — the VM is blank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[Install Docker] 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[Run hello-web]  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RECAP:  ok=3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changed=2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failed=0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226771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0256" y="226771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21424" y="226771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21945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#2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73952" y="2487168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second run — nothing to do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[Install Docker]       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[Run hello-web]        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RECAP:  ok=3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changed=0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failed=0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0" descr="icon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4855830"/>
            <a:ext cx="218724" cy="21872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16736" y="465429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re-run, always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describe state, not steps. Re-running is how you verify, repair drift, and roll changes to new machines.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40080" y="56418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1" descr="icons/rotat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5770230"/>
            <a:ext cx="218724" cy="21872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16736" y="556869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“configuration management” means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playbook is the living documentation of how a server is set up — and the tool that enforces it.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pic>
        <p:nvPicPr>
          <p:cNvPr id="5" name="Image 0" descr="icons/flas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06040" y="40233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blank VM → running app, hands off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287000" y="457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SSH once: gcloud compute ssh --tunnel-through-iap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386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the target's name + the IAP ProxyCommand line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8992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connectivity: ansible web -m ping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78992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site.yml and watch the changed= counts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66928" y="42153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78992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IAP-tunnel port 80 to localhost — browse your app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566928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800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playbook again — confirm changed=0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3EEF4"/>
          </a:solidFill>
          <a:ln/>
        </p:spPr>
      </p:sp>
      <p:pic>
        <p:nvPicPr>
          <p:cNvPr id="30" name="Image 1" descr="icon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93392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SUCCEEDED WHEN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973568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answers through the IAP tunnel from the Lab 3 VM, and a second playbook run reports changed=0 — proof of idempotency.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726680" y="379476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CEEDB"/>
          </a:solidFill>
          <a:ln/>
        </p:spPr>
      </p:sp>
      <p:pic>
        <p:nvPicPr>
          <p:cNvPr id="34" name="Image 2" descr="icons/bulb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7973568" y="44074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tools in this one lab: Terraform built the VM, Docker packaged the app, Artifact Registry stored it, Ansible wired it all together. You did every step yourself today.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step-by-step commands in your Lab Guide — this slide is just the map.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Board — Open Lab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 – 16:00   ·   bragging rights at stake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missions from the Challenge Labs handout — no copy-paste, AI allowed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Break-fix, drift-detect, extend — the leaderboard is watching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something you built, broke, and fixed yourself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18" name="Image 3" descr="icons/flas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of the mission board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boo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83831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63677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live in the handout, not on slides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gives a goal and a proof condition — zero commands. Finished one? Show the proof, claim the points.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bol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291730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2715768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allowed. Encouraged, even.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 — ask them anything. But no explanation of your own fix, no point. Pasting without understanding is the only way to lose.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8679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3996294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794760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your lane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namespace, your images, your group’s VM. Suffix challenge work with -fixme so it never collides with your working deployments.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494690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gra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5075286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4873752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beats give-up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~10 min → ask for Hint 1. ~20 → Hint 2. Solutions only appear at timeout — struggle is the point, suffering is not.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548640" y="580644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CEEDB"/>
          </a:solidFill>
          <a:ln/>
        </p:spPr>
      </p:sp>
      <p:pic>
        <p:nvPicPr>
          <p:cNvPr id="19" name="Image 4" descr="icons/rocket-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96188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58064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on the whiteboard.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per mission, 2 for ⭐, 4 for the pair-sabotage finale. Winner picks where the loser buys coffee.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started yesterday morning vs 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A3557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8424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527" y="2194103"/>
            <a:ext cx="357530" cy="357530"/>
          </a:xfrm>
          <a:prstGeom prst="rect">
            <a:avLst/>
          </a:prstGeom>
        </p:spPr>
      </p:pic>
      <p:pic>
        <p:nvPicPr>
          <p:cNvPr id="9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202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19202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and shipped a container image to a private registry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A3557"/>
          </a:solidFill>
          <a:ln/>
        </p:spPr>
      </p:sp>
      <p:sp>
        <p:nvSpPr>
          <p:cNvPr id="12" name="Shape 8"/>
          <p:cNvSpPr/>
          <p:nvPr/>
        </p:nvSpPr>
        <p:spPr>
          <a:xfrm>
            <a:off x="6519672" y="198424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node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527" y="2194103"/>
            <a:ext cx="357530" cy="357530"/>
          </a:xfrm>
          <a:prstGeom prst="rect">
            <a:avLst/>
          </a:prstGeom>
        </p:spPr>
      </p:pic>
      <p:pic>
        <p:nvPicPr>
          <p:cNvPr id="14" name="Image 3" descr="icons/check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192024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98080" y="19202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deployed it to GKE, scaled it, and watched it self-heal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8640" y="347472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A3557"/>
          </a:solidFill>
          <a:ln/>
        </p:spPr>
      </p:sp>
      <p:sp>
        <p:nvSpPr>
          <p:cNvPr id="17" name="Shape 11"/>
          <p:cNvSpPr/>
          <p:nvPr/>
        </p:nvSpPr>
        <p:spPr>
          <a:xfrm>
            <a:off x="804672" y="376732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icons/filecod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527" y="3977183"/>
            <a:ext cx="357530" cy="357530"/>
          </a:xfrm>
          <a:prstGeom prst="rect">
            <a:avLst/>
          </a:prstGeom>
        </p:spPr>
      </p:pic>
      <p:pic>
        <p:nvPicPr>
          <p:cNvPr id="19" name="Image 5" descr="icons/check-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70332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783080" y="37033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provisioned real cloud infrastructure from version-able code</a:t>
            </a:r>
            <a:endParaRPr lang="en-US" sz="1700" dirty="0"/>
          </a:p>
        </p:txBody>
      </p:sp>
      <p:sp>
        <p:nvSpPr>
          <p:cNvPr id="21" name="Shape 13"/>
          <p:cNvSpPr/>
          <p:nvPr/>
        </p:nvSpPr>
        <p:spPr>
          <a:xfrm>
            <a:off x="6263640" y="347472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A3557"/>
          </a:solidFill>
          <a:ln/>
        </p:spPr>
      </p:sp>
      <p:sp>
        <p:nvSpPr>
          <p:cNvPr id="22" name="Shape 14"/>
          <p:cNvSpPr/>
          <p:nvPr/>
        </p:nvSpPr>
        <p:spPr>
          <a:xfrm>
            <a:off x="6519672" y="376732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6" descr="icons/gears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527" y="3977183"/>
            <a:ext cx="357530" cy="357530"/>
          </a:xfrm>
          <a:prstGeom prst="rect">
            <a:avLst/>
          </a:prstGeom>
        </p:spPr>
      </p:pic>
      <p:pic>
        <p:nvPicPr>
          <p:cNvPr id="24" name="Image 7" descr="icons/check-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4240" y="3703320"/>
            <a:ext cx="320040" cy="3200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98080" y="37033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configured a blank machine into a working app server — twice, safely</a:t>
            </a:r>
            <a:endParaRPr lang="en-US" sz="1700" dirty="0"/>
          </a:p>
        </p:txBody>
      </p:sp>
      <p:sp>
        <p:nvSpPr>
          <p:cNvPr id="26" name="Text 16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on GCP, all of it under your own service account, all of it from the command line. That was the goal.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skipped on purpose — your map for later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46" y="1691274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9961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further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multi-container dev · multi-stage builds for small images · volumes for persistent data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5727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node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146" y="1691274"/>
            <a:ext cx="201900" cy="201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49961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further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(the package manager) · Ingress TLS &amp; cert-manager · RBAC &amp; Secrets · health probes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05409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filecod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46" y="317260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9809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further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for reuse · remote state backends for teams · workspaces · terraform import for existing infra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263640" y="305409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gear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146" y="3172602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29809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Ansible, further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for structure · Ansible Vault for secrets · dynamic GCP inventory · handlers and templates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548640" y="453542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icons/searc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46" y="4653930"/>
            <a:ext cx="201900" cy="201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ops side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logging and alerting (Cloud Monitoring, Prometheus, Grafana) — a course of its own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263640" y="453542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5" descr="icons/rocket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146" y="4653930"/>
            <a:ext cx="201900" cy="2019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03720" y="44622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the natural next course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or GitHub Actions: one git push builds, ships and deploys everything you did by hand these two days. Ask about the follow-on course.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enough to read the documentation of any of these and not be lost. That was the promise of today.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COURSE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and well done.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33375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ago: “docker, kubectl, ansible, terraform — don't know a thing yet.”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you containerize an app, run it on Kubernetes at Google scale, and conjure + configure cloud machines from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26080" y="44348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flas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9648" y="4548408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20440" y="443484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stays up tonight — finish any missions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926080" y="50566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boo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648" y="5170200"/>
            <a:ext cx="193487" cy="1934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505663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lab guides are yours to keep: they rebuild everything from scratch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926080" y="567842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gra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648" y="5791992"/>
            <a:ext cx="193487" cy="1934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567842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forms — brutal honesty makes the next course better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Managing Docker &amp; Kubernetes Clusters with Ansible and Terraform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2026-07-14T12:35:02Z</dcterms:created>
  <dcterms:modified xsi:type="dcterms:W3CDTF">2026-07-14T12:35:02Z</dcterms:modified>
</cp:coreProperties>
</file>