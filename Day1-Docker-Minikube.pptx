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3.png"/><Relationship Id="rId6" Type="http://schemas.openxmlformats.org/officeDocument/2006/relationships/image" Target="../media/image-2-6.png"/><Relationship Id="rId7" Type="http://schemas.openxmlformats.org/officeDocument/2006/relationships/image" Target="../media/image-2-3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image" Target="../media/image-22-1.png"/><Relationship Id="rId4" Type="http://schemas.openxmlformats.org/officeDocument/2006/relationships/image" Target="../media/image-22-1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3.png"/><Relationship Id="rId6" Type="http://schemas.openxmlformats.org/officeDocument/2006/relationships/image" Target="../media/image-28-1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1.png"/><Relationship Id="rId3" Type="http://schemas.openxmlformats.org/officeDocument/2006/relationships/image" Target="../media/image-31-1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2.png"/><Relationship Id="rId5" Type="http://schemas.openxmlformats.org/officeDocument/2006/relationships/image" Target="../media/image-38-5.png"/><Relationship Id="rId6" Type="http://schemas.openxmlformats.org/officeDocument/2006/relationships/image" Target="../media/image-38-2.png"/><Relationship Id="rId7" Type="http://schemas.openxmlformats.org/officeDocument/2006/relationships/image" Target="../media/image-38-7.png"/><Relationship Id="rId8" Type="http://schemas.openxmlformats.org/officeDocument/2006/relationships/image" Target="../media/image-38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INSTRUCTOR-LED TECHNICAL TRAINING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Docker &amp; Kubernetes Clusters with Ansible and Terraform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of 2   ·   8:30 AM – 4:30 PM   ·   Containers &amp; your own Kubernetes — all on your laptop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0243E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45262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icons/box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3191" y="4679351"/>
            <a:ext cx="260787" cy="2607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44988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520440" y="42976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0243E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49040" y="45262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gea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111" y="4679351"/>
            <a:ext cx="260787" cy="2607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44988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Data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· volumes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309360" y="42976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0243E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37960" y="45262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node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031" y="4679351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9480" y="44988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9098280" y="4297680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10243E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26880" y="45262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terminal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9951" y="4679351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058400" y="4498848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Cluster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at a glance — no cloud until tomorrow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10243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361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83080" y="15544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icons/termin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1835" y="1653235"/>
            <a:ext cx="168250" cy="1682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31720" y="153619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 — Setup &amp; orientation</a:t>
            </a:r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 two-day map · toolkit check · Lab 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06197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10243E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0619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783080" y="20802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box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835" y="2179015"/>
            <a:ext cx="168250" cy="1682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31720" y="206197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Docker fundamentals</a:t>
            </a:r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Images, containers, Dockerfiles · Lab 1: build &amp; run your app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258775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EEF3F7"/>
          </a:solidFill>
          <a:ln/>
        </p:spPr>
      </p:sp>
      <p:sp>
        <p:nvSpPr>
          <p:cNvPr id="17" name="Text 13"/>
          <p:cNvSpPr/>
          <p:nvPr/>
        </p:nvSpPr>
        <p:spPr>
          <a:xfrm>
            <a:off x="548640" y="25877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1783080" y="2606040"/>
            <a:ext cx="365760" cy="365760"/>
          </a:xfrm>
          <a:prstGeom prst="ellipse">
            <a:avLst/>
          </a:prstGeom>
          <a:solidFill>
            <a:srgbClr val="B8C6D2"/>
          </a:solidFill>
          <a:ln/>
        </p:spPr>
      </p:sp>
      <p:pic>
        <p:nvPicPr>
          <p:cNvPr id="19" name="Image 2" descr="icons/clo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835" y="2704795"/>
            <a:ext cx="168250" cy="1682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331720" y="258775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— 15 minutes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311353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10243E"/>
          </a:solidFill>
          <a:ln/>
        </p:spPr>
      </p:sp>
      <p:sp>
        <p:nvSpPr>
          <p:cNvPr id="22" name="Text 17"/>
          <p:cNvSpPr/>
          <p:nvPr/>
        </p:nvSpPr>
        <p:spPr>
          <a:xfrm>
            <a:off x="548640" y="31135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1783080" y="31318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icons/gear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835" y="3230575"/>
            <a:ext cx="168250" cy="1682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331720" y="311353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Docker in practice</a:t>
            </a:r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Runtime config, volumes, debugging · Lab 2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48640" y="363931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EEF3F7"/>
          </a:solidFill>
          <a:ln/>
        </p:spPr>
      </p:sp>
      <p:sp>
        <p:nvSpPr>
          <p:cNvPr id="27" name="Text 21"/>
          <p:cNvSpPr/>
          <p:nvPr/>
        </p:nvSpPr>
        <p:spPr>
          <a:xfrm>
            <a:off x="548640" y="363931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12:45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1783080" y="3657600"/>
            <a:ext cx="365760" cy="365760"/>
          </a:xfrm>
          <a:prstGeom prst="ellipse">
            <a:avLst/>
          </a:prstGeom>
          <a:solidFill>
            <a:srgbClr val="B8C6D2"/>
          </a:solidFill>
          <a:ln/>
        </p:spPr>
      </p:sp>
      <p:pic>
        <p:nvPicPr>
          <p:cNvPr id="29" name="Image 4" descr="icons/cloc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1835" y="3756355"/>
            <a:ext cx="168250" cy="1682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2331720" y="363931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— 60 minutes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548640" y="416509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10243E"/>
          </a:solidFill>
          <a:ln/>
        </p:spPr>
      </p:sp>
      <p:sp>
        <p:nvSpPr>
          <p:cNvPr id="32" name="Text 25"/>
          <p:cNvSpPr/>
          <p:nvPr/>
        </p:nvSpPr>
        <p:spPr>
          <a:xfrm>
            <a:off x="548640" y="41650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13:45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1783080" y="41833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5" descr="icons/nodes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1835" y="4282135"/>
            <a:ext cx="168250" cy="16825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331720" y="416509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Kubernetes + minikube</a:t>
            </a:r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Pods, Deployments, Services · Lab 3: your own cluster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548640" y="469087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EEF3F7"/>
          </a:solidFill>
          <a:ln/>
        </p:spPr>
      </p:sp>
      <p:sp>
        <p:nvSpPr>
          <p:cNvPr id="37" name="Text 29"/>
          <p:cNvSpPr/>
          <p:nvPr/>
        </p:nvSpPr>
        <p:spPr>
          <a:xfrm>
            <a:off x="548640" y="4690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15:15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1783080" y="4709160"/>
            <a:ext cx="365760" cy="365760"/>
          </a:xfrm>
          <a:prstGeom prst="ellipse">
            <a:avLst/>
          </a:prstGeom>
          <a:solidFill>
            <a:srgbClr val="B8C6D2"/>
          </a:solidFill>
          <a:ln/>
        </p:spPr>
      </p:sp>
      <p:pic>
        <p:nvPicPr>
          <p:cNvPr id="39" name="Image 6" descr="icons/clock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1835" y="4807915"/>
            <a:ext cx="168250" cy="16825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2331720" y="469087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— 15 minutes</a:t>
            </a:r>
            <a:endParaRPr lang="en-US" sz="1400" dirty="0"/>
          </a:p>
        </p:txBody>
      </p:sp>
      <p:sp>
        <p:nvSpPr>
          <p:cNvPr id="41" name="Shape 32"/>
          <p:cNvSpPr/>
          <p:nvPr/>
        </p:nvSpPr>
        <p:spPr>
          <a:xfrm>
            <a:off x="548640" y="521665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10243E"/>
          </a:solidFill>
          <a:ln/>
        </p:spPr>
      </p:sp>
      <p:sp>
        <p:nvSpPr>
          <p:cNvPr id="42" name="Text 33"/>
          <p:cNvSpPr/>
          <p:nvPr/>
        </p:nvSpPr>
        <p:spPr>
          <a:xfrm>
            <a:off x="548640" y="521665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</a:t>
            </a:r>
            <a:endParaRPr lang="en-US" sz="1300" dirty="0"/>
          </a:p>
        </p:txBody>
      </p:sp>
      <p:sp>
        <p:nvSpPr>
          <p:cNvPr id="43" name="Shape 34"/>
          <p:cNvSpPr/>
          <p:nvPr/>
        </p:nvSpPr>
        <p:spPr>
          <a:xfrm>
            <a:off x="1783080" y="52349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4" name="Image 7" descr="icons/rotate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81835" y="5333695"/>
            <a:ext cx="168250" cy="16825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2331720" y="521665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Manifests &amp; rolling updates</a:t>
            </a:r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YAML · zero-downtime deploys · Lab 4</a:t>
            </a:r>
            <a:endParaRPr lang="en-US" sz="1400" dirty="0"/>
          </a:p>
        </p:txBody>
      </p:sp>
      <p:sp>
        <p:nvSpPr>
          <p:cNvPr id="46" name="Shape 36"/>
          <p:cNvSpPr/>
          <p:nvPr/>
        </p:nvSpPr>
        <p:spPr>
          <a:xfrm>
            <a:off x="548640" y="5742432"/>
            <a:ext cx="1005840" cy="402336"/>
          </a:xfrm>
          <a:prstGeom prst="roundRect">
            <a:avLst>
              <a:gd name="adj" fmla="val 18182"/>
            </a:avLst>
          </a:prstGeom>
          <a:solidFill>
            <a:srgbClr val="10243E"/>
          </a:solidFill>
          <a:ln/>
        </p:spPr>
      </p:sp>
      <p:sp>
        <p:nvSpPr>
          <p:cNvPr id="47" name="Text 37"/>
          <p:cNvSpPr/>
          <p:nvPr/>
        </p:nvSpPr>
        <p:spPr>
          <a:xfrm>
            <a:off x="548640" y="574243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16:15</a:t>
            </a:r>
            <a:endParaRPr lang="en-US" sz="1300" dirty="0"/>
          </a:p>
        </p:txBody>
      </p:sp>
      <p:sp>
        <p:nvSpPr>
          <p:cNvPr id="48" name="Shape 38"/>
          <p:cNvSpPr/>
          <p:nvPr/>
        </p:nvSpPr>
        <p:spPr>
          <a:xfrm>
            <a:off x="1783080" y="5760720"/>
            <a:ext cx="365760" cy="36576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49" name="Image 8" descr="icons/grad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81835" y="5859475"/>
            <a:ext cx="168250" cy="16825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2331720" y="5742432"/>
            <a:ext cx="9235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Day 2 preview (the big guns)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tools, one story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EEF3F7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892808"/>
            <a:ext cx="777240" cy="77724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8" name="Image 0" descr="icons/filecod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527" y="2102663"/>
            <a:ext cx="357530" cy="3575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180136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</a:t>
            </a:r>
            <a:pPr indent="0" marL="0">
              <a:lnSpc>
                <a:spcPct val="105000"/>
              </a:lnSpc>
              <a:buNone/>
            </a:pPr>
            <a:r>
              <a:rPr lang="en-US" sz="1100" b="1" spc="150" kern="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raw infrastructure — VMs, networks, Kubernetes clusters — from code.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EEF3F7"/>
          </a:solidFill>
          <a:ln/>
        </p:spPr>
      </p:sp>
      <p:sp>
        <p:nvSpPr>
          <p:cNvPr id="11" name="Shape 8"/>
          <p:cNvSpPr/>
          <p:nvPr/>
        </p:nvSpPr>
        <p:spPr>
          <a:xfrm>
            <a:off x="6519672" y="1892808"/>
            <a:ext cx="777240" cy="777240"/>
          </a:xfrm>
          <a:prstGeom prst="ellipse">
            <a:avLst/>
          </a:prstGeom>
          <a:solidFill>
            <a:srgbClr val="14556E"/>
          </a:solidFill>
          <a:ln/>
        </p:spPr>
      </p:sp>
      <p:pic>
        <p:nvPicPr>
          <p:cNvPr id="12" name="Image 1" descr="icons/gea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527" y="2102663"/>
            <a:ext cx="357530" cy="3575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180136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 </a:t>
            </a:r>
            <a:pPr indent="0" marL="0">
              <a:lnSpc>
                <a:spcPct val="105000"/>
              </a:lnSpc>
              <a:buNone/>
            </a:pPr>
            <a:r>
              <a:rPr lang="en-US" sz="1100" b="1" spc="150" kern="0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blank machines into useful ones — installs packages, copies files, starts services.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EEF3F7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367588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box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27" y="3885743"/>
            <a:ext cx="357530" cy="3575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58444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</a:t>
            </a:r>
            <a:pPr indent="0" marL="0">
              <a:lnSpc>
                <a:spcPct val="105000"/>
              </a:lnSpc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Seals your application and everything it needs into one portable container image.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6263640" y="338328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EEF3F7"/>
          </a:solidFill>
          <a:ln/>
        </p:spPr>
      </p:sp>
      <p:sp>
        <p:nvSpPr>
          <p:cNvPr id="19" name="Shape 14"/>
          <p:cNvSpPr/>
          <p:nvPr/>
        </p:nvSpPr>
        <p:spPr>
          <a:xfrm>
            <a:off x="6519672" y="3675888"/>
            <a:ext cx="777240" cy="77724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0" name="Image 3" descr="icons/node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527" y="3885743"/>
            <a:ext cx="357530" cy="3575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0" y="358444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 </a:t>
            </a:r>
            <a:pPr indent="0" marL="0">
              <a:lnSpc>
                <a:spcPct val="105000"/>
              </a:lnSpc>
              <a:buNone/>
            </a:pPr>
            <a:r>
              <a:rPr lang="en-US" sz="1100" b="1" spc="15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AT SCALE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many containers alive, load-balanced and self-healing across machines.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0243E"/>
          </a:solidFill>
          <a:ln/>
        </p:spPr>
      </p:sp>
      <p:pic>
        <p:nvPicPr>
          <p:cNvPr id="23" name="Image 4" descr="icons/cloud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532120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Platform</a:t>
            </a:r>
            <a:pPr indent="0" marL="0">
              <a:buNone/>
            </a:pPr>
            <a:r>
              <a:rPr lang="en-US" sz="130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tomorrow's stage. Today Docker &amp; Kubernetes run on your laptop; tomorrow Terraform &amp; Ansible take the same app to the cloud.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DAYS FIT TOGETHER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 makes the whole journey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084832" cy="2560320"/>
          </a:xfrm>
          <a:prstGeom prst="roundRect">
            <a:avLst>
              <a:gd name="adj" fmla="val 5263"/>
            </a:avLst>
          </a:prstGeom>
          <a:solidFill>
            <a:srgbClr val="E3EEF4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21031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box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394" y="2310506"/>
            <a:ext cx="353324" cy="3533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0175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327355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85800" y="38221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Docker image of a small web app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578608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788920" y="1828800"/>
            <a:ext cx="2084832" cy="2560320"/>
          </a:xfrm>
          <a:prstGeom prst="roundRect">
            <a:avLst>
              <a:gd name="adj" fmla="val 5263"/>
            </a:avLst>
          </a:prstGeom>
          <a:solidFill>
            <a:srgbClr val="E3EEF4"/>
          </a:solidFill>
          <a:ln/>
        </p:spPr>
      </p:sp>
      <p:sp>
        <p:nvSpPr>
          <p:cNvPr id="14" name="Shape 11"/>
          <p:cNvSpPr/>
          <p:nvPr/>
        </p:nvSpPr>
        <p:spPr>
          <a:xfrm>
            <a:off x="3447288" y="21031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icons/node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674" y="2310506"/>
            <a:ext cx="353324" cy="35332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88920" y="30175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788920" y="327355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Kubernetes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2926080" y="38221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it on minikube — a cluster on your laptop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818888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029200" y="1828800"/>
            <a:ext cx="2084832" cy="2560320"/>
          </a:xfrm>
          <a:prstGeom prst="roundRect">
            <a:avLst>
              <a:gd name="adj" fmla="val 5263"/>
            </a:avLst>
          </a:prstGeom>
          <a:solidFill>
            <a:srgbClr val="EEF3F7"/>
          </a:solidFill>
          <a:ln/>
        </p:spPr>
      </p:sp>
      <p:sp>
        <p:nvSpPr>
          <p:cNvPr id="21" name="Shape 17"/>
          <p:cNvSpPr/>
          <p:nvPr/>
        </p:nvSpPr>
        <p:spPr>
          <a:xfrm>
            <a:off x="5687568" y="21031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2" descr="icons/uploa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954" y="2310506"/>
            <a:ext cx="353324" cy="3533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029200" y="30175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029200" y="327355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5166360" y="38221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image to a private cloud registry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059168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7269480" y="1828800"/>
            <a:ext cx="2084832" cy="2560320"/>
          </a:xfrm>
          <a:prstGeom prst="roundRect">
            <a:avLst>
              <a:gd name="adj" fmla="val 5263"/>
            </a:avLst>
          </a:prstGeom>
          <a:solidFill>
            <a:srgbClr val="EEF3F7"/>
          </a:solidFill>
          <a:ln/>
        </p:spPr>
      </p:sp>
      <p:sp>
        <p:nvSpPr>
          <p:cNvPr id="28" name="Shape 23"/>
          <p:cNvSpPr/>
          <p:nvPr/>
        </p:nvSpPr>
        <p:spPr>
          <a:xfrm>
            <a:off x="7927848" y="21031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3" descr="icons/clou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234" y="2310506"/>
            <a:ext cx="353324" cy="35332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69480" y="30175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269480" y="327355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big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7406640" y="38221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GKE behind a real public hostname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9299448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8"/>
          <p:cNvSpPr/>
          <p:nvPr/>
        </p:nvSpPr>
        <p:spPr>
          <a:xfrm>
            <a:off x="9509760" y="1828800"/>
            <a:ext cx="2084832" cy="2560320"/>
          </a:xfrm>
          <a:prstGeom prst="roundRect">
            <a:avLst>
              <a:gd name="adj" fmla="val 5263"/>
            </a:avLst>
          </a:prstGeom>
          <a:solidFill>
            <a:srgbClr val="EEF3F7"/>
          </a:solidFill>
          <a:ln/>
        </p:spPr>
      </p:sp>
      <p:sp>
        <p:nvSpPr>
          <p:cNvPr id="35" name="Shape 29"/>
          <p:cNvSpPr/>
          <p:nvPr/>
        </p:nvSpPr>
        <p:spPr>
          <a:xfrm>
            <a:off x="10168128" y="210312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4" descr="icons/gears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5514" y="2310506"/>
            <a:ext cx="353324" cy="35332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509760" y="301752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9509760" y="327355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metal</a:t>
            </a:r>
            <a:endParaRPr lang="en-US" sz="1350" dirty="0"/>
          </a:p>
        </p:txBody>
      </p:sp>
      <p:sp>
        <p:nvSpPr>
          <p:cNvPr id="39" name="Text 32"/>
          <p:cNvSpPr/>
          <p:nvPr/>
        </p:nvSpPr>
        <p:spPr>
          <a:xfrm>
            <a:off x="9646920" y="382219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provisions, Ansible configures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548640" y="48920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3EEF4"/>
          </a:solidFill>
          <a:ln/>
        </p:spPr>
      </p:sp>
      <p:pic>
        <p:nvPicPr>
          <p:cNvPr id="41" name="Image 5" descr="icons/bulb-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193792"/>
            <a:ext cx="457200" cy="45720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508760" y="489204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local first? </a:t>
            </a:r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Kubernetes concept you learn on minikube today transfers 1:1 to the real cluster tomorrow — same kubectl, same YAML, same behaviour. Only the machines change size.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74520" y="786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1060704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Orientation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74520" y="1755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08:30 – 09:10   ·   includes Lab 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50" dirty="0"/>
          </a:p>
        </p:txBody>
      </p:sp>
      <p:pic>
        <p:nvPicPr>
          <p:cNvPr id="11" name="Image 0" descr="icons/check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04495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0175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two-day map and where every tool fits</a:t>
            </a:r>
            <a:endParaRPr lang="en-US" sz="1600" dirty="0"/>
          </a:p>
        </p:txBody>
      </p:sp>
      <p:pic>
        <p:nvPicPr>
          <p:cNvPr id="13" name="Image 1" descr="icons/check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703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6758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laptop toolkit: Docker, minikube, kubectl</a:t>
            </a:r>
            <a:endParaRPr lang="en-US" sz="1600" dirty="0"/>
          </a:p>
        </p:txBody>
      </p:sp>
      <p:pic>
        <p:nvPicPr>
          <p:cNvPr id="15" name="Image 2" descr="icons/check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616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3342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first containers before 9:15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9189720" y="3154680"/>
            <a:ext cx="2103120" cy="2103120"/>
          </a:xfrm>
          <a:prstGeom prst="ellipse">
            <a:avLst/>
          </a:prstGeom>
          <a:solidFill>
            <a:srgbClr val="14556E"/>
          </a:solidFill>
          <a:ln/>
        </p:spPr>
      </p:sp>
      <p:pic>
        <p:nvPicPr>
          <p:cNvPr id="18" name="Image 3" descr="icons/terminal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7562" y="3722522"/>
            <a:ext cx="967435" cy="967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toolkit — it all runs on your own laptop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642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terminal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1792590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159105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Ubuntu — your control room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in this course runs here: gcloud, kubectl, terraform, ansible, git. Plain PowerShell won't do — Ansible needs Linux.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50545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box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2633838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6736" y="2432304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WSL integration switched on, docker commands inside WSL just work.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34670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nodes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3475086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273552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+ kubectl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runs a private Kubernetes cluster inside Docker; kubectl drives it — and drives tomorrow's Google cluster with the same commands.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418795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icons/filecod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62" y="4316334"/>
            <a:ext cx="218724" cy="2187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16736" y="4114800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Terraform, Ansible &amp; gcloud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Tomorrow's tools — installed already per the checklist, verified tomorrow morning, idle today.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502920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icons/glob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62" y="5157582"/>
            <a:ext cx="218724" cy="21872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16736" y="4956048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needed today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accounts, no cloud sign-ups, no billing. Day 1 is entirely yours and entirely local.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548640" y="580644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FCEEDB"/>
          </a:solidFill>
          <a:ln/>
        </p:spPr>
      </p:sp>
      <p:pic>
        <p:nvPicPr>
          <p:cNvPr id="22" name="Image 5" descr="icons/bulb-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961888"/>
            <a:ext cx="347472" cy="34747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371600" y="580644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Locked-down laptop? </a:t>
            </a:r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it to the instructor NOW and pair with a neighbour while we fix it — Day 1 needs only Docker Desktop + WSL to participate.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F2A541"/>
          </a:solidFill>
          <a:ln/>
        </p:spPr>
      </p:sp>
      <p:pic>
        <p:nvPicPr>
          <p:cNvPr id="5" name="Image 0" descr="icons/flas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4572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606040" y="40233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Toolkit check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287000" y="457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algn="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18013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WSL Ubuntu terminal (Docker Desktop running)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4048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78992" y="23865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docker, minikube, kubectl print versions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3008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78992" y="29900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hello-world — read what it actually says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78992" y="35935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what did that container leave behind? Find it.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726680" y="178308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E3EEF4"/>
          </a:solidFill>
          <a:ln/>
        </p:spPr>
      </p:sp>
      <p:pic>
        <p:nvPicPr>
          <p:cNvPr id="24" name="Image 1" descr="icons/check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993392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4124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SUCCEEDED WHEN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7973568" y="239572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tools print versions and hello-world’s message makes sense to you line by line.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7726680" y="379476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FCEEDB"/>
          </a:solidFill>
          <a:ln/>
        </p:spPr>
      </p:sp>
      <p:pic>
        <p:nvPicPr>
          <p:cNvPr id="28" name="Image 2" descr="icons/bulb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005072"/>
            <a:ext cx="329184" cy="32918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MIND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7973568" y="44074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today — no accounts, no keys, no billing. Everything until 4:30 runs on the machine in front of you. Laptop misbehaving? Flag it NOW and pair up while we fix it.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step-by-step commands in your Lab Guide — this slide is just the map.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74520" y="786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1060704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Fundamentals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74520" y="1755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09:10 – 10:45   ·   includes Lab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50" dirty="0"/>
          </a:p>
        </p:txBody>
      </p:sp>
      <p:pic>
        <p:nvPicPr>
          <p:cNvPr id="11" name="Image 0" descr="icons/check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04495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0175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an image and a container</a:t>
            </a:r>
            <a:endParaRPr lang="en-US" sz="1600" dirty="0"/>
          </a:p>
        </p:txBody>
      </p:sp>
      <p:pic>
        <p:nvPicPr>
          <p:cNvPr id="13" name="Image 1" descr="icons/check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703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6758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Run, inspect and stop containers from the command line</a:t>
            </a:r>
            <a:endParaRPr lang="en-US" sz="1600" dirty="0"/>
          </a:p>
        </p:txBody>
      </p:sp>
      <p:pic>
        <p:nvPicPr>
          <p:cNvPr id="15" name="Image 2" descr="icons/check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616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3342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Dockerfile and build an image from it</a:t>
            </a:r>
            <a:endParaRPr lang="en-US" sz="1600" dirty="0"/>
          </a:p>
        </p:txBody>
      </p:sp>
      <p:pic>
        <p:nvPicPr>
          <p:cNvPr id="17" name="Image 3" descr="icons/check-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502005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499262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registry is — tomorrow's shipping lane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9189720" y="3154680"/>
            <a:ext cx="2103120" cy="2103120"/>
          </a:xfrm>
          <a:prstGeom prst="ellipse">
            <a:avLst/>
          </a:prstGeom>
          <a:solidFill>
            <a:srgbClr val="14556E"/>
          </a:solidFill>
          <a:ln/>
        </p:spPr>
      </p:sp>
      <p:pic>
        <p:nvPicPr>
          <p:cNvPr id="20" name="Image 4" descr="icons/box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7562" y="3722522"/>
            <a:ext cx="967435" cy="9674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“It works on my machine” — the problem containers solve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app behaves differently on every machine: different OS libraries, different Python versions, missing dependencies, hand-configured snowflake servers nobody dares to touch.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EEF3F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77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A6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machine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96112" y="2926080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a whole guest operating system per app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Gigabytes in size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boot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Heavyweight — strong isolation, expensive to run many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drifts over time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394960" cy="3977640"/>
          </a:xfrm>
          <a:prstGeom prst="roundRect">
            <a:avLst>
              <a:gd name="adj" fmla="val 2759"/>
            </a:avLst>
          </a:prstGeom>
          <a:solidFill>
            <a:srgbClr val="E3EEF4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377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5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11112" y="2926080"/>
            <a:ext cx="4709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host kernel — packages only the app + its dependencies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Megabytes in size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in milliseconds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— run dozens on one VM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image: identical on laptop, VM and cluster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vs container — the one distinction that matters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EEF3F7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2011680"/>
            <a:ext cx="822960" cy="82296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8" name="Image 0" descr="icons/boo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2439" y="2233879"/>
            <a:ext cx="378562" cy="3785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48640" y="3346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2960" y="3657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template: your app, its dependencies, the runtime. Built once, never changes.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43400" y="173736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EEF3F7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circleplay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7199" y="2233879"/>
            <a:ext cx="378562" cy="3785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4340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343400" y="3346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DISH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617720" y="3657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instance of an image. Start one, start ten — each is isolated, disposable, cheap.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138160" y="173736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EEF3F7"/>
          </a:solidFill>
          <a:ln/>
        </p:spPr>
      </p:sp>
      <p:sp>
        <p:nvSpPr>
          <p:cNvPr id="19" name="Shape 15"/>
          <p:cNvSpPr/>
          <p:nvPr/>
        </p:nvSpPr>
        <p:spPr>
          <a:xfrm>
            <a:off x="9509760" y="2011680"/>
            <a:ext cx="822960" cy="822960"/>
          </a:xfrm>
          <a:prstGeom prst="ellipse">
            <a:avLst/>
          </a:prstGeom>
          <a:solidFill>
            <a:srgbClr val="14556E"/>
          </a:solidFill>
          <a:ln/>
        </p:spPr>
      </p:sp>
      <p:pic>
        <p:nvPicPr>
          <p:cNvPr id="20" name="Image 2" descr="icons/databas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1959" y="2233879"/>
            <a:ext cx="378562" cy="3785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3816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138160" y="33467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COOKBOOK SHELF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8412480" y="3657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images are stored and shared. Docker Hub is public; our Artifact Registry is private.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E3EEF4"/>
          </a:solidFill>
          <a:ln/>
        </p:spPr>
      </p:sp>
      <p:pic>
        <p:nvPicPr>
          <p:cNvPr id="25" name="Image 3" descr="icons/bulb-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321808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17320" y="51206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→ many containers. </a:t>
            </a:r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nginx three times gives you three independent containers from the same image.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Images are built in layers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783080"/>
            <a:ext cx="6035040" cy="786384"/>
          </a:xfrm>
          <a:prstGeom prst="roundRect">
            <a:avLst>
              <a:gd name="adj" fmla="val 9302"/>
            </a:avLst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783080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Writable container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60920" y="185623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at runtime — changes die with the container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2715768"/>
            <a:ext cx="6035040" cy="786384"/>
          </a:xfrm>
          <a:prstGeom prst="roundRect">
            <a:avLst>
              <a:gd name="adj" fmla="val 9302"/>
            </a:avLst>
          </a:prstGeom>
          <a:solidFill>
            <a:srgbClr val="2E86AB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715768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                    (your code)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60920" y="27889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most often — keep it near the top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648456"/>
            <a:ext cx="6035040" cy="786384"/>
          </a:xfrm>
          <a:prstGeom prst="roundRect">
            <a:avLst>
              <a:gd name="adj" fmla="val 9302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48456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-r requirements.txt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60920" y="372160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— cached until requirements change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97280" y="4581144"/>
            <a:ext cx="6035040" cy="786384"/>
          </a:xfrm>
          <a:prstGeom prst="roundRect">
            <a:avLst>
              <a:gd name="adj" fmla="val 9302"/>
            </a:avLst>
          </a:prstGeom>
          <a:solidFill>
            <a:srgbClr val="10243E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581144"/>
            <a:ext cx="5486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python:3.12-slim   (base image)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60920" y="465429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+ Python — rarely changes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55778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order: bottom → top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94360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EE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9436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care?  </a:t>
            </a:r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layers are cached — put things that change rarely at the bottom of your Dockerfile and rebuilds take seconds, not minutes.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eight Docker commands you actually need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766560" cy="4663440"/>
          </a:xfrm>
          <a:prstGeom prst="roundRect">
            <a:avLst>
              <a:gd name="adj" fmla="val 1569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1907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71907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71907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6459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cheat sheet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938528"/>
            <a:ext cx="6263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8080:80 nginx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start, detached, map port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# what is running?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&lt;id&gt;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# what did it print?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&lt;id&gt;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bash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shell inside it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&lt;id&gt;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# graceful stop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&lt;id&gt;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# remove stopped container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hello-web .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Dockerfile -&gt; image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# images on this machine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35240" y="180136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0" descr="icons/pointer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622" y="1929750"/>
            <a:ext cx="218724" cy="2187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11896" y="1728216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 = detached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background; without it the container owns your terminal.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635240" y="317296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icons/networ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622" y="3301350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311896" y="3099816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host:container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8080:80 means “my port 8080 → the container's port 80”.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7635240" y="454456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icons/search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622" y="4672950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11896" y="4471416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can be lazy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3–4 characters of a container ID are enough.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container lifecycle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EEF3F7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filecod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806" y="2574950"/>
            <a:ext cx="336499" cy="336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33101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" y="370332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→ image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578608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788920" y="210312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EEF3F7"/>
          </a:solidFill>
          <a:ln/>
        </p:spPr>
      </p:sp>
      <p:sp>
        <p:nvSpPr>
          <p:cNvPr id="13" name="Shape 10"/>
          <p:cNvSpPr/>
          <p:nvPr/>
        </p:nvSpPr>
        <p:spPr>
          <a:xfrm>
            <a:off x="3465576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play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86" y="2574950"/>
            <a:ext cx="336499" cy="33649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88920" y="33101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898648" y="370332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running container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818888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029200" y="210312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EEF3F7"/>
          </a:solidFill>
          <a:ln/>
        </p:spPr>
      </p:sp>
      <p:sp>
        <p:nvSpPr>
          <p:cNvPr id="19" name="Shape 15"/>
          <p:cNvSpPr/>
          <p:nvPr/>
        </p:nvSpPr>
        <p:spPr>
          <a:xfrm>
            <a:off x="5705856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icons/ey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366" y="2574950"/>
            <a:ext cx="336499" cy="33649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29200" y="33101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138928" y="370332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· logs · exec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059168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7269480" y="210312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EEF3F7"/>
          </a:solidFill>
          <a:ln/>
        </p:spPr>
      </p:sp>
      <p:sp>
        <p:nvSpPr>
          <p:cNvPr id="25" name="Shape 20"/>
          <p:cNvSpPr/>
          <p:nvPr/>
        </p:nvSpPr>
        <p:spPr>
          <a:xfrm>
            <a:off x="7946136" y="23774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3" descr="icons/ban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646" y="2574950"/>
            <a:ext cx="336499" cy="33649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69480" y="33101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379208" y="370332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halts, container remains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299448" y="29718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9509760" y="210312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EEF3F7"/>
          </a:solidFill>
          <a:ln/>
        </p:spPr>
      </p:sp>
      <p:sp>
        <p:nvSpPr>
          <p:cNvPr id="31" name="Shape 25"/>
          <p:cNvSpPr/>
          <p:nvPr/>
        </p:nvSpPr>
        <p:spPr>
          <a:xfrm>
            <a:off x="10186416" y="2377440"/>
            <a:ext cx="731520" cy="73152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32" name="Image 4" descr="icons/trash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926" y="2574950"/>
            <a:ext cx="336499" cy="33649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509760" y="3310128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9619488" y="370332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gone; image stays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48640" y="484632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3EEF4"/>
          </a:solidFill>
          <a:ln/>
        </p:spPr>
      </p:sp>
      <p:pic>
        <p:nvPicPr>
          <p:cNvPr id="36" name="Image 5" descr="icons/bulb-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93208"/>
            <a:ext cx="384048" cy="38404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417320" y="48463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are disposable by design. </a:t>
            </a:r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fix a broken container — remove it and run a fresh one from the image. Data that must survive lives in volumes (out of scope today).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Dockerfile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675120" cy="4206240"/>
          </a:xfrm>
          <a:prstGeom prst="roundRect">
            <a:avLst>
              <a:gd name="adj" fmla="val 1739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1907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71907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71907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6459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938528"/>
            <a:ext cx="6172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python:3.12-slim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/app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requirements.txt 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pip install -r requirements.txt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 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8080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["python", "app.py"]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43800" y="17099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0" descr="icons/layers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2182" y="1838310"/>
            <a:ext cx="218724" cy="2187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0456" y="1636776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to bottom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instruction adds a layer; the whole file is the recipe for one image.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543800" y="282549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icons/wrench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2953878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0456" y="2752344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vs CMD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executes at build time (bake dependencies in). CMD is what launches when a container starts.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7543800" y="394106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icons/box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182" y="4069446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0456" y="3867912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= your starting point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already solved “Linux + Python” — stand on that base image.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7543800" y="505663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/tag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182" y="5185014"/>
            <a:ext cx="218724" cy="2187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0456" y="4983480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documents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declares the port; -p on docker run actually publishes it.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F2A541"/>
          </a:solidFill>
          <a:ln/>
        </p:spPr>
      </p:sp>
      <p:pic>
        <p:nvPicPr>
          <p:cNvPr id="5" name="Image 0" descr="icons/flas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4572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606040" y="40233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run your first app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287000" y="457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algn="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18013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nginx in a container and hit it with curl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4048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78992" y="23865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ps, logs and exec on the running container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3008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78992" y="29900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app.py, requirements.txt and the Dockerfile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78992" y="35935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image; find it with docker images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66928" y="42153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78992" y="41970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it, curl it, stop it, run it again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66928" y="48188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566928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78992" y="4800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TWO copies side by side on different ports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726680" y="178308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E3EEF4"/>
          </a:solidFill>
          <a:ln/>
        </p:spPr>
      </p:sp>
      <p:pic>
        <p:nvPicPr>
          <p:cNvPr id="30" name="Image 1" descr="icons/check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993392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4124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SUCCEEDED WHEN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973568" y="239572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localhost:8080 and localhost:8090 both answer — two containers, one image, zero conflicts.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7726680" y="379476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FCEEDB"/>
          </a:solidFill>
          <a:ln/>
        </p:spPr>
      </p:sp>
      <p:pic>
        <p:nvPicPr>
          <p:cNvPr id="34" name="Image 2" descr="icons/bulb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005072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MIND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7973568" y="44074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image is the star of both days: minikube runs it this afternoon, GKE runs it tomorrow morning, Ansible deploys it tomorrow afternoon.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step-by-step commands in your Lab Guide — this slide is just the map.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74520" y="786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1060704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in Practice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74520" y="1755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– 12:45   ·   includes Lab 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50" dirty="0"/>
          </a:p>
        </p:txBody>
      </p:sp>
      <p:pic>
        <p:nvPicPr>
          <p:cNvPr id="11" name="Image 0" descr="icons/check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04495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0175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container at runtime without rebuilding</a:t>
            </a:r>
            <a:endParaRPr lang="en-US" sz="1600" dirty="0"/>
          </a:p>
        </p:txBody>
      </p:sp>
      <p:pic>
        <p:nvPicPr>
          <p:cNvPr id="13" name="Image 1" descr="icons/check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703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6758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alive after a container dies (volumes)</a:t>
            </a:r>
            <a:endParaRPr lang="en-US" sz="1600" dirty="0"/>
          </a:p>
        </p:txBody>
      </p:sp>
      <p:pic>
        <p:nvPicPr>
          <p:cNvPr id="15" name="Image 2" descr="icons/check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616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3342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 broken container like a professional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9189720" y="3154680"/>
            <a:ext cx="2103120" cy="2103120"/>
          </a:xfrm>
          <a:prstGeom prst="ellipse">
            <a:avLst/>
          </a:prstGeom>
          <a:solidFill>
            <a:srgbClr val="14556E"/>
          </a:solidFill>
          <a:ln/>
        </p:spPr>
      </p:sp>
      <p:pic>
        <p:nvPicPr>
          <p:cNvPr id="18" name="Image 3" descr="icons/gears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7562" y="3722522"/>
            <a:ext cx="967435" cy="9674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image, many personalities — runtime configuration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an image to change a setting is like reprinting a book to move a bookmark. Configuration belongs at runtime: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6675120" cy="2651760"/>
          </a:xfrm>
          <a:prstGeom prst="roundRect">
            <a:avLst>
              <a:gd name="adj" fmla="val 2759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22199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222199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222199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21488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441448"/>
            <a:ext cx="6172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Dockerfile set a DEFAULT:  ENV OWNER=userNN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8080:8080 hello-web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banner says userNN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8090:8080 -e OWNER=production hello-web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same image, banner says production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43800" y="2167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0" descr="icons/ta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2182" y="2295510"/>
            <a:ext cx="218724" cy="2187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0456" y="2093976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= default, -e = override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Dockerfile bakes a fallback; every run can override it. The image never changes.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543800" y="35387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icons/shuff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3667110"/>
            <a:ext cx="218724" cy="2187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220456" y="3465576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dev / staging / prod works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tested image travels through every environment; only its environment variables differ. (Kubernetes has the same idea — env: in the pod spec.)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543800" y="49103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icons/ba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182" y="5038710"/>
            <a:ext cx="218724" cy="2187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0456" y="4837176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bake secrets into images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with the image can read every layer. Passwords arrive at runtime — env vars today, secret managers in real life.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two environments would need two different images, the image is built wrong.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Containers finding each other — networks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applications are rarely one container. An app tier plus a database is the classic pair — and out of the box, containers can't see each other: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6675120" cy="2743200"/>
          </a:xfrm>
          <a:prstGeom prst="roundRect">
            <a:avLst>
              <a:gd name="adj" fmla="val 2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22199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222199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222199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214884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441448"/>
            <a:ext cx="6172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network create appnet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a private LAN for your app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db  --network appnet mariadb:11 ...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web --network appnet -p 8088:80 ...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inside web, the hostname "db" simply resolves: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WORDPRESS_DB_HOST=db   — no IP address anywhere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43800" y="2167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0" descr="icons/netwo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2182" y="2295510"/>
            <a:ext cx="218724" cy="2187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0456" y="2093976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not IPs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on the same user-created network resolve each other by container name — Docker runs a tiny DNS for you. IPs change; names don't.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543800" y="35844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icons/glob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182" y="3712830"/>
            <a:ext cx="218724" cy="2187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220456" y="3511296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 is for the outside world only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Container-to-container traffic flows inside the network; publishing ports is only needed where a human's browser enters.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543800" y="500176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icons/box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182" y="5130150"/>
            <a:ext cx="218724" cy="2187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0456" y="4928616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 is a trap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container, localhost means that container — not your laptop, not its neighbour. The #1 multi-container beginner error.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is what turns two containers into one system. You'll build exactly this — app + database — in the client challenge.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Volumes — because containers forget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tras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1838310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163677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writable layer dies with the container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the app writes inside the container is gone at docker rm. For a stateless web app: fine. For a database: catastrophic.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8072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dis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2935590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6736" y="273405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 — Docker-managed storage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-v mydata:/var/lib/app … — the data outlives any container; the next container mounts the same volume and carries on.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9044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tre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4032870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83133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mount — a folder from YOUR machine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-v $(pwd):/app … — edit code on your laptop, the container sees it instantly. The dev-loop superpower.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49808" y="523951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7" name="Shape 12"/>
          <p:cNvSpPr/>
          <p:nvPr/>
        </p:nvSpPr>
        <p:spPr>
          <a:xfrm>
            <a:off x="950976" y="523951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8" name="Shape 13"/>
          <p:cNvSpPr/>
          <p:nvPr/>
        </p:nvSpPr>
        <p:spPr>
          <a:xfrm>
            <a:off x="1152144" y="523951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9" name="Text 14"/>
          <p:cNvSpPr/>
          <p:nvPr/>
        </p:nvSpPr>
        <p:spPr>
          <a:xfrm>
            <a:off x="804672" y="5458968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-v notes:/data --name a alpine sh -c 'echo hello &gt; /data/f; sleep 999'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-f a &amp;&amp; docker run --rm -v notes:/data alpine cat /data/f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-&gt; hello  (survived!)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containers — the 4-step ritual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ey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022" y="1792590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25296" y="1591056"/>
            <a:ext cx="4764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docker ps -a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even running? “Exited (1) 2 seconds ago” tells a story before you read anything else.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16642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clipboar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022" y="1792590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0296" y="1591056"/>
            <a:ext cx="4764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docker logs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app’s own words. 90% of failures confess right here — read bottom-up, first error wins.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1272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terminal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3255630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25296" y="3054096"/>
            <a:ext cx="4764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docker exec -it … sh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inside: is the file there? is the port listening? what does the environment look like?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263640" y="31272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icons/search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2022" y="3255630"/>
            <a:ext cx="218724" cy="2187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40296" y="3054096"/>
            <a:ext cx="4764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docker inspect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JSON truth — ports, mounts, env, exit code — for when the first three disagree.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CEEDB"/>
          </a:solidFill>
          <a:ln/>
        </p:spPr>
      </p:sp>
      <p:pic>
        <p:nvPicPr>
          <p:cNvPr id="19" name="Image 4" descr="icons/bulb-amb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10235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3040" y="4709160"/>
            <a:ext cx="10012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mindset shift: </a:t>
            </a:r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fix a broken container in place. Diagnose it, fix the Dockerfile or the run command, throw the container away, run a fresh one. The fix lives in the recipe, not the animal.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F2A541"/>
          </a:solidFill>
          <a:ln/>
        </p:spPr>
      </p:sp>
      <p:pic>
        <p:nvPicPr>
          <p:cNvPr id="5" name="Image 0" descr="icons/flas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4572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606040" y="40233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Bend a container to your will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287000" y="457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algn="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18013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OWNER at runtime — no rebuild; prove it with curl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4048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78992" y="23865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volume: write data, destroy the container, read it back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3008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78992" y="29900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Bind-mount your app folder; edit app.py; see it live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78992" y="35935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containers, one network: reach one by NAME from the other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66928" y="42153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78992" y="41970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Break-fix: the cursed Dockerfile — the 4-step ritual, applied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66928" y="48188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566928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78992" y="4800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out loud WHICH debug step exposed each bug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726680" y="178308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E3EEF4"/>
          </a:solidFill>
          <a:ln/>
        </p:spPr>
      </p:sp>
      <p:pic>
        <p:nvPicPr>
          <p:cNvPr id="30" name="Image 1" descr="icons/check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993392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4124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SUCCEEDED WHEN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973568" y="239572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override works, your data survived a container’s death, and the cursed Dockerfile builds and runs — bug named.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7726680" y="379476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FCEEDB"/>
          </a:solidFill>
          <a:ln/>
        </p:spPr>
      </p:sp>
      <p:pic>
        <p:nvPicPr>
          <p:cNvPr id="34" name="Image 2" descr="icons/bulb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005072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MIND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7973568" y="44074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 ritual you practise here (ps → logs → exec → inspect) has an exact twin in Kubernetes this afternoon: get → describe → logs → exec.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step-by-step commands in your Lab Guide — this slide is just the map.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74520" y="786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1060704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— with your own cluster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74520" y="1755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13:45 – 15:15   ·   includes Lab 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50" dirty="0"/>
          </a:p>
        </p:txBody>
      </p:sp>
      <p:pic>
        <p:nvPicPr>
          <p:cNvPr id="11" name="Image 0" descr="icons/check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04495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0175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running many containers needs an orchestrator</a:t>
            </a:r>
            <a:endParaRPr lang="en-US" sz="1600" dirty="0"/>
          </a:p>
        </p:txBody>
      </p:sp>
      <p:pic>
        <p:nvPicPr>
          <p:cNvPr id="13" name="Image 1" descr="icons/check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703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6758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real Kubernetes cluster on your laptop (minikube)</a:t>
            </a:r>
            <a:endParaRPr lang="en-US" sz="1600" dirty="0"/>
          </a:p>
        </p:txBody>
      </p:sp>
      <p:pic>
        <p:nvPicPr>
          <p:cNvPr id="15" name="Image 2" descr="icons/check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616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3342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Pods, Deployments and Services</a:t>
            </a:r>
            <a:endParaRPr lang="en-US" sz="1600" dirty="0"/>
          </a:p>
        </p:txBody>
      </p:sp>
      <p:pic>
        <p:nvPicPr>
          <p:cNvPr id="17" name="Image 3" descr="icons/check-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502005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499262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your Lab 1 image and watch it self-heal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9189720" y="3154680"/>
            <a:ext cx="2103120" cy="2103120"/>
          </a:xfrm>
          <a:prstGeom prst="ellipse">
            <a:avLst/>
          </a:prstGeom>
          <a:solidFill>
            <a:srgbClr val="14556E"/>
          </a:solidFill>
          <a:ln/>
        </p:spPr>
      </p:sp>
      <p:pic>
        <p:nvPicPr>
          <p:cNvPr id="20" name="Image 4" descr="icons/nodes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7562" y="3722522"/>
            <a:ext cx="967435" cy="9674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container is easy. Fifty is a full-time job.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runs a container. It does not answer any of these questions — Kubernetes exists to answer all of them, automatically, all the time: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EEF3F7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377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icons/hear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2525573"/>
            <a:ext cx="252374" cy="2523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restarts a crashed container?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3 a.m., on a Sunday, every time.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214884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EEF3F7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2377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sca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133" y="2525573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7200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scales it up and down?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replicas at lunch rush, two at midnight.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38160" y="214884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EEF3F7"/>
          </a:solidFill>
          <a:ln/>
        </p:spPr>
      </p:sp>
      <p:sp>
        <p:nvSpPr>
          <p:cNvPr id="18" name="Shape 14"/>
          <p:cNvSpPr/>
          <p:nvPr/>
        </p:nvSpPr>
        <p:spPr>
          <a:xfrm>
            <a:off x="8366760" y="23774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icons/shuffl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893" y="2525573"/>
            <a:ext cx="252374" cy="2523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66760" y="3017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spreads them across machines?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6676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one dead VM doesn't take the app down.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48640" y="411480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EEF3F7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4343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icons/rotat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4491533"/>
            <a:ext cx="252374" cy="25237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7240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rolls out new versions?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7724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v1 with v2 without dropping requests.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343400" y="411480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EEF3F7"/>
          </a:solidFill>
          <a:ln/>
        </p:spPr>
      </p:sp>
      <p:sp>
        <p:nvSpPr>
          <p:cNvPr id="28" name="Shape 22"/>
          <p:cNvSpPr/>
          <p:nvPr/>
        </p:nvSpPr>
        <p:spPr>
          <a:xfrm>
            <a:off x="4572000" y="4343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4" descr="icons/globe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133" y="4491533"/>
            <a:ext cx="252374" cy="25237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572000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wires the networking?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move; users need one stable address.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138160" y="411480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EEF3F7"/>
          </a:solidFill>
          <a:ln/>
        </p:spPr>
      </p:sp>
      <p:sp>
        <p:nvSpPr>
          <p:cNvPr id="33" name="Shape 26"/>
          <p:cNvSpPr/>
          <p:nvPr/>
        </p:nvSpPr>
        <p:spPr>
          <a:xfrm>
            <a:off x="8366760" y="43434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5" descr="icons/listcheck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4893" y="4491533"/>
            <a:ext cx="252374" cy="25237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366760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keeps it all matching the plan?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836676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state vs reality, reconciled forever.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in one sentence: you declare the desired state, and a control loop works forever to make reality match it.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architecture — one slide is all you need today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206240" cy="4114800"/>
          </a:xfrm>
          <a:prstGeom prst="roundRect">
            <a:avLst>
              <a:gd name="adj" fmla="val 2667"/>
            </a:avLst>
          </a:prstGeom>
          <a:solidFill>
            <a:srgbClr val="10243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brain” — today it lives inside minikube, on your laptop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606040"/>
            <a:ext cx="3657600" cy="841248"/>
          </a:xfrm>
          <a:prstGeom prst="roundRect">
            <a:avLst>
              <a:gd name="adj" fmla="val 8696"/>
            </a:avLst>
          </a:prstGeom>
          <a:solidFill>
            <a:srgbClr val="1A3557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679192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door — kubectl talks to this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593592"/>
            <a:ext cx="3657600" cy="841248"/>
          </a:xfrm>
          <a:prstGeom prst="roundRect">
            <a:avLst>
              <a:gd name="adj" fmla="val 8696"/>
            </a:avLst>
          </a:prstGeom>
          <a:solidFill>
            <a:srgbClr val="1A3557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66674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node runs each pod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581144"/>
            <a:ext cx="3657600" cy="841248"/>
          </a:xfrm>
          <a:prstGeom prst="roundRect">
            <a:avLst>
              <a:gd name="adj" fmla="val 8696"/>
            </a:avLst>
          </a:prstGeom>
          <a:solidFill>
            <a:srgbClr val="1A3557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465429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loops that fix drift from desired state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49240" y="1645920"/>
            <a:ext cx="3108960" cy="4114800"/>
          </a:xfrm>
          <a:prstGeom prst="roundRect">
            <a:avLst>
              <a:gd name="adj" fmla="val 3529"/>
            </a:avLst>
          </a:prstGeom>
          <a:solidFill>
            <a:srgbClr val="EEF3F7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doing the work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77840" y="25603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E3EEF4"/>
          </a:solidFill>
          <a:ln/>
        </p:spPr>
      </p:sp>
      <p:sp>
        <p:nvSpPr>
          <p:cNvPr id="19" name="Text 17"/>
          <p:cNvSpPr/>
          <p:nvPr/>
        </p:nvSpPr>
        <p:spPr>
          <a:xfrm>
            <a:off x="5733288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— the node's agent, obeys the control plane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0" y="3337560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733288" y="333756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— your container(s)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77840" y="4087368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5733288" y="40873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— your container(s)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77840" y="4837176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5733288" y="483717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— your container(s)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686800" y="1645920"/>
            <a:ext cx="3108960" cy="4114800"/>
          </a:xfrm>
          <a:prstGeom prst="roundRect">
            <a:avLst>
              <a:gd name="adj" fmla="val 3529"/>
            </a:avLst>
          </a:prstGeom>
          <a:solidFill>
            <a:srgbClr val="EEF3F7"/>
          </a:solidFill>
          <a:ln/>
        </p:spPr>
      </p:sp>
      <p:sp>
        <p:nvSpPr>
          <p:cNvPr id="27" name="Text 25"/>
          <p:cNvSpPr/>
          <p:nvPr/>
        </p:nvSpPr>
        <p:spPr>
          <a:xfrm>
            <a:off x="891540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1540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doing the work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15400" y="256032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E3EEF4"/>
          </a:solidFill>
          <a:ln/>
        </p:spPr>
      </p:sp>
      <p:sp>
        <p:nvSpPr>
          <p:cNvPr id="30" name="Text 28"/>
          <p:cNvSpPr/>
          <p:nvPr/>
        </p:nvSpPr>
        <p:spPr>
          <a:xfrm>
            <a:off x="9070848" y="25603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— the node's agent, obeys the control plane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15400" y="3337560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9070848" y="333756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— your container(s)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915400" y="4087368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9070848" y="40873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— your container(s)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915400" y="4837176"/>
            <a:ext cx="2651760" cy="621792"/>
          </a:xfrm>
          <a:prstGeom prst="roundRect">
            <a:avLst>
              <a:gd name="adj" fmla="val 11765"/>
            </a:avLst>
          </a:prstGeom>
          <a:solidFill>
            <a:srgbClr val="1C7293"/>
          </a:solidFill>
          <a:ln/>
        </p:spPr>
      </p:sp>
      <p:sp>
        <p:nvSpPr>
          <p:cNvPr id="36" name="Text 34"/>
          <p:cNvSpPr/>
          <p:nvPr/>
        </p:nvSpPr>
        <p:spPr>
          <a:xfrm>
            <a:off x="9070848" y="483717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— your container(s)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ever talk to the API server (via kubectl). </a:t>
            </a:r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SSH into nodes to start containers — you declare what you want and the cluster makes it happen.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minikube — a whole Kubernetes in a box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box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1838310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163677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Kubernetes inside a container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start spins up a single-node cluster inside Docker on your laptop. Real API server, real scheduler, real kubelet — miniature hardware.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287158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6736" y="2670048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concept-compatible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do on it — kubectl, YAML, Deployments, Services — works unchanged on tomorrow’s Google-sized cluster. That is the whole reason we start here.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77647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upload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3904854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3703320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local superpower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image load hello-web hands your local image straight to the cluster — no registry needed. (Tomorrow the registry becomes necessary; today we skip it.)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480974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icons/scal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62" y="4938126"/>
            <a:ext cx="218724" cy="2187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16736" y="4736592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honest limits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node, no cloud load balancers, your laptop’s RAM. Perfect classroom; not production.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49808" y="565099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0" name="Shape 14"/>
          <p:cNvSpPr/>
          <p:nvPr/>
        </p:nvSpPr>
        <p:spPr>
          <a:xfrm>
            <a:off x="950976" y="565099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21" name="Shape 15"/>
          <p:cNvSpPr/>
          <p:nvPr/>
        </p:nvSpPr>
        <p:spPr>
          <a:xfrm>
            <a:off x="1152144" y="565099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22" name="Text 16"/>
          <p:cNvSpPr/>
          <p:nvPr/>
        </p:nvSpPr>
        <p:spPr>
          <a:xfrm>
            <a:off x="804672" y="5870448"/>
            <a:ext cx="10561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minikube start --driver=docker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~1–2 min first time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nodes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# NAME: minikube   STATUS: Ready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 1 of 3 — the Pod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box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2996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178308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thing Kubernetes runs.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pod wraps one (usually) container plus its network identity. You will almost never create pods directly — Deployments do it for you.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317296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hear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3301350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16736" y="309981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are cattle, not pets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crash, get evicted, get replaced. A pod being deleted is normal Tuesday behaviour, not an incident.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41788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shuffl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4307190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16736" y="410565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IPs are temporary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replacement pod gets a new IP — this is exactly why Services exist (two slides from now).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51846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icons/search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62" y="5313030"/>
            <a:ext cx="218724" cy="2187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16736" y="511149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debugging surface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describe pod and kubectl logs work at the pod level — this is where you look when things break.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 2 of 3 — the Deployment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 an image and a replica count. Kubernetes keeps that many pods alive — forever.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28600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0243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5915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9FB4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replicas: 3 · image: hello-web:v1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89120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14556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35915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ReplicaSet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C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count true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818120" y="2377440"/>
            <a:ext cx="1188720" cy="73152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0" y="2377440"/>
            <a:ext cx="1188720" cy="73152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469880" y="2377440"/>
            <a:ext cx="1188720" cy="731520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469880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67588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0" descr="icons/hear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3804270"/>
            <a:ext cx="218724" cy="21872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16736" y="360273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pod and a replacement appears in seconds. You will do this in Lab 2 — it never gets old.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40080" y="460857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1" descr="icons/scal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4736958"/>
            <a:ext cx="218724" cy="21872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316736" y="4535424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is one command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scale deployment hello-web --replicas=10. Down to 2 again just as easily.</a:t>
            </a:r>
            <a:endParaRPr lang="en-US" sz="1450" dirty="0"/>
          </a:p>
        </p:txBody>
      </p:sp>
      <p:sp>
        <p:nvSpPr>
          <p:cNvPr id="25" name="Shape 21"/>
          <p:cNvSpPr/>
          <p:nvPr/>
        </p:nvSpPr>
        <p:spPr>
          <a:xfrm>
            <a:off x="640080" y="554126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2" descr="icons/rotat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62" y="5669646"/>
            <a:ext cx="218724" cy="21872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316736" y="5468112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image tag to v2 and pods are replaced gradually — zero downtime. This is Day 2's deploy mechanism.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object 3 of 3 — the Service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come and go and change IPs. A Service is the one stable address in front of them.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EF3F7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2331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icons/glob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036" y="2467508"/>
            <a:ext cx="231343" cy="23134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2860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users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18211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520440" y="2148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EF3F7"/>
          </a:solidFill>
          <a:ln/>
        </p:spPr>
      </p:sp>
      <p:sp>
        <p:nvSpPr>
          <p:cNvPr id="13" name="Shape 10"/>
          <p:cNvSpPr/>
          <p:nvPr/>
        </p:nvSpPr>
        <p:spPr>
          <a:xfrm>
            <a:off x="3721608" y="2331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clou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396" y="2467508"/>
            <a:ext cx="231343" cy="23134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43400" y="22860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 (cloud)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tomorrow, on GKE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06247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400800" y="2148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10243E"/>
          </a:solidFill>
          <a:ln/>
        </p:spPr>
      </p:sp>
      <p:sp>
        <p:nvSpPr>
          <p:cNvPr id="18" name="Shape 14"/>
          <p:cNvSpPr/>
          <p:nvPr/>
        </p:nvSpPr>
        <p:spPr>
          <a:xfrm>
            <a:off x="6601968" y="233172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</p:sp>
      <p:pic>
        <p:nvPicPr>
          <p:cNvPr id="19" name="Image 2" descr="icons/networ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756" y="2467508"/>
            <a:ext cx="231343" cy="23134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23760" y="22860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virtual address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942832" y="26060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281160" y="21488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EF3F7"/>
          </a:solidFill>
          <a:ln/>
        </p:spPr>
      </p:sp>
      <p:sp>
        <p:nvSpPr>
          <p:cNvPr id="23" name="Shape 18"/>
          <p:cNvSpPr/>
          <p:nvPr/>
        </p:nvSpPr>
        <p:spPr>
          <a:xfrm>
            <a:off x="9482328" y="23317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icons/box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8116" y="2467508"/>
            <a:ext cx="231343" cy="23134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104120" y="228600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wherever they happen to be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icons/networ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62" y="4124310"/>
            <a:ext cx="218724" cy="2187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16736" y="392277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ClusterIP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Internal-only address — the default, and what your app's Service uses today.</a:t>
            </a:r>
            <a:endParaRPr lang="en-US" sz="1450" dirty="0"/>
          </a:p>
        </p:txBody>
      </p:sp>
      <p:sp>
        <p:nvSpPr>
          <p:cNvPr id="29" name="Shape 22"/>
          <p:cNvSpPr/>
          <p:nvPr/>
        </p:nvSpPr>
        <p:spPr>
          <a:xfrm>
            <a:off x="640080" y="49103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5" descr="icons/globe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462" y="5038710"/>
            <a:ext cx="218724" cy="21872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16736" y="483717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LoadBalancer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Cloud-only: provisions a real load balancer with a public IP. Tomorrow's tool — on minikube, port-forward and NodePort stand in.</a:t>
            </a:r>
            <a:endParaRPr lang="en-US" sz="1450" dirty="0"/>
          </a:p>
        </p:txBody>
      </p:sp>
      <p:sp>
        <p:nvSpPr>
          <p:cNvPr id="32" name="Shape 24"/>
          <p:cNvSpPr/>
          <p:nvPr/>
        </p:nvSpPr>
        <p:spPr>
          <a:xfrm>
            <a:off x="640080" y="58247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6" descr="icons/tag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462" y="5953110"/>
            <a:ext cx="218724" cy="21872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316736" y="575157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do the wiring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forwards to every pod whose labels match its selector — labels are the glue of Kubernetes.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kubectl — six verbs cover 90% of real life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766560" cy="4663440"/>
          </a:xfrm>
          <a:prstGeom prst="roundRect">
            <a:avLst>
              <a:gd name="adj" fmla="val 1569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1907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71907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71907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6459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cheat sheet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938528"/>
            <a:ext cx="6263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# list (also: deploy, svc, nodes)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describe pod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&lt;name&gt;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details + events — read the events!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logs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&lt;pod&gt;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your app's output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app.yaml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make reality match this file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scale deploy hello-web --replicas=4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pod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&lt;name&gt;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watch it come back :)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svc -w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-w = watch changes live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35240" y="17099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0" descr="icons/search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622" y="1838310"/>
            <a:ext cx="218724" cy="2187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11896" y="1636776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is broken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shows you the events (image pull errors, scheduling failures); logs shows your app's own errors. Between them: 90% of beginner problems solved.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635240" y="324612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icons/filecod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622" y="3374502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311896" y="3172968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is declarative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tell Kubernetes steps to take. You hand it a file describing the end state and it computes the difference.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7635240" y="47823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icons/clo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622" y="4910694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11896" y="4709160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-w is your friend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a LoadBalancer IP appear or pods self-heal in real time beats refreshing manually.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F2A541"/>
          </a:solidFill>
          <a:ln/>
        </p:spPr>
      </p:sp>
      <p:pic>
        <p:nvPicPr>
          <p:cNvPr id="5" name="Image 0" descr="icons/flas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4572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606040" y="40233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cluster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287000" y="457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algn="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18013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start — then kubectl get nodes to greet it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4048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78992" y="23865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your Lab 1 image into the cluster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3008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78992" y="29900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Deployment from it (kubectl create deployment)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78992" y="35935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it with kubectl port-forward; curl from another terminal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66928" y="42153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78992" y="41970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4 replicas; delete a pod — watch it self-heal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66928" y="48188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566928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78992" y="4800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the twin ritual: get → describe → logs → exec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726680" y="178308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E3EEF4"/>
          </a:solidFill>
          <a:ln/>
        </p:spPr>
      </p:sp>
      <p:pic>
        <p:nvPicPr>
          <p:cNvPr id="30" name="Image 1" descr="icons/check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993392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4124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SUCCEEDED WHEN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973568" y="239572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answers via port-forward from 4 pods, and a deleted pod is replaced within seconds — on a cluster you own.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7726680" y="379476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FCEEDB"/>
          </a:solidFill>
          <a:ln/>
        </p:spPr>
      </p:sp>
      <p:pic>
        <p:nvPicPr>
          <p:cNvPr id="34" name="Image 2" descr="icons/bulb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005072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MIND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7973568" y="44074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is throwaway — minikube delete resets the world. Break things on purpose; that is exactly what a personal cluster is for.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step-by-step commands in your Lab Guide — this slide is just the map.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51560" cy="1051560"/>
          </a:xfrm>
          <a:prstGeom prst="roundRect">
            <a:avLst>
              <a:gd name="adj" fmla="val 12174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8580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74520" y="786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74520" y="1060704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Manifests &amp; Rolling Updates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874520" y="1755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15:30 – 16:15   ·   includes Lab 4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E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50" dirty="0"/>
          </a:p>
        </p:txBody>
      </p:sp>
      <p:pic>
        <p:nvPicPr>
          <p:cNvPr id="11" name="Image 0" descr="icons/check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3044952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0175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Deployment and Service YAML</a:t>
            </a:r>
            <a:endParaRPr lang="en-US" sz="1600" dirty="0"/>
          </a:p>
        </p:txBody>
      </p:sp>
      <p:pic>
        <p:nvPicPr>
          <p:cNvPr id="13" name="Image 1" descr="icons/check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70332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6758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new version with zero downtime (rolling update)</a:t>
            </a:r>
            <a:endParaRPr lang="en-US" sz="1600" dirty="0"/>
          </a:p>
        </p:txBody>
      </p:sp>
      <p:pic>
        <p:nvPicPr>
          <p:cNvPr id="15" name="Image 2" descr="icons/check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43616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433425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a bad release with one command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9189720" y="3154680"/>
            <a:ext cx="2103120" cy="2103120"/>
          </a:xfrm>
          <a:prstGeom prst="ellipse">
            <a:avLst/>
          </a:prstGeom>
          <a:solidFill>
            <a:srgbClr val="14556E"/>
          </a:solidFill>
          <a:ln/>
        </p:spPr>
      </p:sp>
      <p:pic>
        <p:nvPicPr>
          <p:cNvPr id="18" name="Image 3" descr="icons/rotat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7562" y="3722522"/>
            <a:ext cx="967435" cy="96743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Deployment manifest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400800" cy="4709160"/>
          </a:xfrm>
          <a:prstGeom prst="roundRect">
            <a:avLst>
              <a:gd name="adj" fmla="val 155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1907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71907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71907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6459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deployment.yaml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938528"/>
            <a:ext cx="58978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apps/v1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hello-web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replicas: 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matchLabels: { app: hello-web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template: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the pod recipe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metadata: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labels: { app: hello-web }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containers: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hello-web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image: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hello-web:v1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loaded into minikube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ports: [{ containerPort: 8080 }]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17099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0" descr="icons/tag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862" y="1838310"/>
            <a:ext cx="218724" cy="2187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946136" y="1636776"/>
            <a:ext cx="3666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says what it is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Kubernetes object is described the same way: apiVersion, kind, metadata, spec.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269480" y="28529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icons/list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862" y="2981310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946136" y="2779776"/>
            <a:ext cx="3666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= desired state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replicas of this pod template. Kubernetes' whole job is keeping this true.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7269480" y="39959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icons/war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862" y="4124310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946136" y="3922776"/>
            <a:ext cx="3666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must match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template.metadata.labels must match spec.selector — the #1 beginner YAML error.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7269480" y="51389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/box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862" y="5267310"/>
            <a:ext cx="218724" cy="2187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946136" y="5065776"/>
            <a:ext cx="3666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your Lab 1 image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names your Lab 1 build, loaded straight into minikube — the cloud registry enters tomorrow.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Service manifest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400800" cy="3383280"/>
          </a:xfrm>
          <a:prstGeom prst="roundRect">
            <a:avLst>
              <a:gd name="adj" fmla="val 2162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1907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71907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71907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6459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service.yaml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938528"/>
            <a:ext cx="5897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v1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hello-web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type: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ClusterIP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selector: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hello-web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-&gt; pods with this label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ports: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port: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the world talks to 80...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targetPort: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8080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...pods listen on 8080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269480" y="180136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0" descr="icons/netwo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862" y="1929750"/>
            <a:ext cx="218724" cy="2187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946136" y="1728216"/>
            <a:ext cx="3666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selector is the wiring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IP addresses anywhere — the Service finds pods by label, however many there are, wherever they run.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269480" y="326440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icons/glob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862" y="3392790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946136" y="3191256"/>
            <a:ext cx="3666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it from your laptop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is internal to the cluster. Locally, kubectl port-forward bridges your machine to it. Tomorrow, a cloud Ingress gives it a real public hostname.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3EEF4"/>
          </a:solidFill>
          <a:ln/>
        </p:spPr>
      </p:sp>
      <p:pic>
        <p:nvPicPr>
          <p:cNvPr id="19" name="Image 2" descr="icons/bulb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50468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5257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runs your pods; Service exposes them. </a:t>
            </a:r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app you deploy to Kubernetes is at minimum this pair of YAML files — tomorrow adds a third: the Ingress.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Wiring a multi-tier app — Services are DNS names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morning a docker network gave containers names. Kubernetes has the same idea, built in — and you've already met it: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6400800" cy="3291840"/>
          </a:xfrm>
          <a:prstGeom prst="roundRect">
            <a:avLst>
              <a:gd name="adj" fmla="val 2222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22199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222199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222199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21488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pattern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441448"/>
            <a:ext cx="5897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Service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name: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the name IS the DNS name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# -&gt; any pod can reach db:3306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in the app pod's spec — the twin of docker -e: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WORDPRESS_DB_HOST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value: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WORDPRESS_DB_PASSWORD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value: wppass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# real life: a Secret, not this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269480" y="216712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0" descr="icons/network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862" y="2295510"/>
            <a:ext cx="218724" cy="2187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946136" y="2093976"/>
            <a:ext cx="3666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name = cluster DNS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 is reachable by its name from any pod in the namespace. The Kubernetes twin of this morning's docker network.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269480" y="35844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icons/tag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862" y="3712830"/>
            <a:ext cx="218724" cy="2187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46136" y="3511296"/>
            <a:ext cx="3666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env: = the twin of -e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12-factor idea: one image, configured per environment in the pod spec.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7269480" y="500176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icons/dis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862" y="5130150"/>
            <a:ext cx="218724" cy="2187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46136" y="4928616"/>
            <a:ext cx="3666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tier's missing piece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storage dies with the pod — databases need a PersistentVolumeClaim. You'll meet it in the client challenge; naming it is tonight's win.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pod → Service "db" → database pod: that one arrow is the architecture of most of the internet.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updates — shipping v2 with zero downtime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EF3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5A6B7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45920" y="26060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5A6B7A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23160" y="26060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5A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0" y="26060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5A6B7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pods on the old image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14800" y="2697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480560" y="18288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EF3F7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800600" y="26060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5A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26060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5A6B7A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55080" y="26060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0" y="26060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3520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pods start, old drain — traffic never stops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46720" y="2697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8412480" y="18288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EEF3F7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8732520" y="26060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873252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509760" y="26060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950976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287000" y="26060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1028700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1064240" y="260604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C7293"/>
          </a:solidFill>
          <a:ln/>
        </p:spPr>
      </p:sp>
      <p:sp>
        <p:nvSpPr>
          <p:cNvPr id="39" name="Text 37"/>
          <p:cNvSpPr/>
          <p:nvPr/>
        </p:nvSpPr>
        <p:spPr>
          <a:xfrm>
            <a:off x="11064240" y="2606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641080" y="3520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 reached, v1 pods gone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" y="47274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2" name="Image 0" descr="icons/hear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62" y="4855830"/>
            <a:ext cx="218724" cy="218724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316736" y="465429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downtime, zero effort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write rolling-update logic. Change the image on the Deployment (kubectl set image) and the controller does the choreography.</a:t>
            </a:r>
            <a:endParaRPr lang="en-US" sz="1450" dirty="0"/>
          </a:p>
        </p:txBody>
      </p:sp>
      <p:sp>
        <p:nvSpPr>
          <p:cNvPr id="44" name="Shape 41"/>
          <p:cNvSpPr/>
          <p:nvPr/>
        </p:nvSpPr>
        <p:spPr>
          <a:xfrm>
            <a:off x="640080" y="56418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5" name="Image 1" descr="icons/eye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62" y="5770230"/>
            <a:ext cx="218724" cy="218724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1316736" y="5568696"/>
            <a:ext cx="10204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it live in Lab 4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pods -w during Lab 4 shows pods terminating and starting in waves. Keep a second terminal open for it.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Rollback — bad releases stop being scary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766560" cy="3108960"/>
          </a:xfrm>
          <a:prstGeom prst="roundRect">
            <a:avLst>
              <a:gd name="adj" fmla="val 2353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5400000">
              <a:srgbClr val="0A142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719072"/>
            <a:ext cx="100584" cy="10058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" y="1719072"/>
            <a:ext cx="100584" cy="10058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1719072"/>
            <a:ext cx="100584" cy="100584"/>
          </a:xfrm>
          <a:prstGeom prst="ellipse">
            <a:avLst/>
          </a:prstGeom>
          <a:solidFill>
            <a:srgbClr val="8FD6BD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64592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C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938528"/>
            <a:ext cx="6263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has been deployed?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history deployment/hello-web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it's broken — go back one version, NOW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undo deployment/hello-web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8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...or to a specific revision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8FD6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undo deployment/hello-web --to-revision=3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35240" y="180136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0" descr="icons/rotate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3622" y="1929750"/>
            <a:ext cx="218724" cy="21872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311896" y="1728216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is also a rolling update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zero-downtime mechanics, in reverse. Kubernetes keeps the previous ReplicaSets around precisely for this.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7635240" y="33558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icons/heart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622" y="3484230"/>
            <a:ext cx="218724" cy="2187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311896" y="3282696"/>
            <a:ext cx="33009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changes team behaviour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rollback takes 10 seconds, deploying stops being a ceremony. Small frequent releases become the rational choice — which is the whole point of CI/CD.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3EEF4"/>
          </a:solidFill>
          <a:ln/>
        </p:spPr>
      </p:sp>
      <p:pic>
        <p:nvPicPr>
          <p:cNvPr id="19" name="Image 2" descr="icons/flask-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276088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50292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this in Lab 4: </a:t>
            </a:r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v2, then roll straight back and watch the waves reverse. Best practised on a laptop cluster, not for the first time in production.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828800" cy="566928"/>
          </a:xfrm>
          <a:prstGeom prst="roundRect">
            <a:avLst>
              <a:gd name="adj" fmla="val 16129"/>
            </a:avLst>
          </a:prstGeom>
          <a:solidFill>
            <a:srgbClr val="F2A541"/>
          </a:solidFill>
          <a:ln/>
        </p:spPr>
      </p:sp>
      <p:pic>
        <p:nvPicPr>
          <p:cNvPr id="5" name="Image 0" descr="icons/flas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57607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45720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606040" y="402336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Manifests, v2, and the undo button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287000" y="457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</a:t>
            </a:r>
            <a:pPr algn="r"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DO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18013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deployment.yaml + service.yaml; kubectl apply them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40487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2"/>
          <p:cNvSpPr/>
          <p:nvPr/>
        </p:nvSpPr>
        <p:spPr>
          <a:xfrm>
            <a:off x="566928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78992" y="2386584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app via port-forward — banner says v1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66928" y="300837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5"/>
          <p:cNvSpPr/>
          <p:nvPr/>
        </p:nvSpPr>
        <p:spPr>
          <a:xfrm>
            <a:off x="566928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78992" y="29900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app.py to v2; rebuild; load hello-web:v2 into minikube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66928" y="361188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78992" y="35935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set image … :v2 — watch pods roll in waves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66928" y="42153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566928" y="4215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78992" y="41970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Refresh: v2. Now kubectl rollout undo — watch it reverse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66928" y="481888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566928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78992" y="4800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rollout history — Kubernetes kept the receipts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7726680" y="178308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E3EEF4"/>
          </a:solidFill>
          <a:ln/>
        </p:spPr>
      </p:sp>
      <p:pic>
        <p:nvPicPr>
          <p:cNvPr id="30" name="Image 1" descr="icons/check-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993392"/>
            <a:ext cx="347472" cy="34747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412480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SUCCEEDED WHEN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973568" y="239572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shipped v2 with zero downtime and returned to v1 with one command — and can explain what the ReplicaSets were doing.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7726680" y="3794760"/>
            <a:ext cx="3886200" cy="1554480"/>
          </a:xfrm>
          <a:prstGeom prst="roundRect">
            <a:avLst>
              <a:gd name="adj" fmla="val 5882"/>
            </a:avLst>
          </a:prstGeom>
          <a:solidFill>
            <a:srgbClr val="FCEEDB"/>
          </a:solidFill>
          <a:ln/>
        </p:spPr>
      </p:sp>
      <p:pic>
        <p:nvPicPr>
          <p:cNvPr id="34" name="Image 2" descr="icons/bulb-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005072"/>
            <a:ext cx="329184" cy="329184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41248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6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 MIND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7973568" y="4407408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motion IS tomorrow writ small: same set image, same rollout — just aimed at a shared Google cluster behind a public hostname.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step-by-step commands in your Lab Guide — this slide is just the map.</a:t>
            </a:r>
            <a:endParaRPr lang="en-US" sz="11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 started this morning vs now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1A3557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98424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box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527" y="2194103"/>
            <a:ext cx="357530" cy="357530"/>
          </a:xfrm>
          <a:prstGeom prst="rect">
            <a:avLst/>
          </a:prstGeom>
        </p:spPr>
      </p:pic>
      <p:pic>
        <p:nvPicPr>
          <p:cNvPr id="9" name="Image 1" descr="icons/check-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9202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19202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images, ran containers, and configured them at runtime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1A3557"/>
          </a:solidFill>
          <a:ln/>
        </p:spPr>
      </p:sp>
      <p:sp>
        <p:nvSpPr>
          <p:cNvPr id="12" name="Shape 8"/>
          <p:cNvSpPr/>
          <p:nvPr/>
        </p:nvSpPr>
        <p:spPr>
          <a:xfrm>
            <a:off x="6519672" y="198424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dis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527" y="2194103"/>
            <a:ext cx="357530" cy="357530"/>
          </a:xfrm>
          <a:prstGeom prst="rect">
            <a:avLst/>
          </a:prstGeom>
        </p:spPr>
      </p:pic>
      <p:pic>
        <p:nvPicPr>
          <p:cNvPr id="14" name="Image 3" descr="icons/check-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192024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98080" y="192024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&amp; debugging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for data that must survive; the 4-step ritual for containers that misbehave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548640" y="347472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1A3557"/>
          </a:solidFill>
          <a:ln/>
        </p:spPr>
      </p:sp>
      <p:sp>
        <p:nvSpPr>
          <p:cNvPr id="17" name="Shape 11"/>
          <p:cNvSpPr/>
          <p:nvPr/>
        </p:nvSpPr>
        <p:spPr>
          <a:xfrm>
            <a:off x="804672" y="376732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icons/nodes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527" y="3977183"/>
            <a:ext cx="357530" cy="357530"/>
          </a:xfrm>
          <a:prstGeom prst="rect">
            <a:avLst/>
          </a:prstGeom>
        </p:spPr>
      </p:pic>
      <p:pic>
        <p:nvPicPr>
          <p:cNvPr id="19" name="Image 5" descr="icons/check-amb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3703320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783080" y="37033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ran a real cluster on your laptop and watched it self-heal</a:t>
            </a:r>
            <a:endParaRPr lang="en-US" sz="1700" dirty="0"/>
          </a:p>
        </p:txBody>
      </p:sp>
      <p:sp>
        <p:nvSpPr>
          <p:cNvPr id="21" name="Shape 13"/>
          <p:cNvSpPr/>
          <p:nvPr/>
        </p:nvSpPr>
        <p:spPr>
          <a:xfrm>
            <a:off x="6263640" y="3474720"/>
            <a:ext cx="5349240" cy="1572768"/>
          </a:xfrm>
          <a:prstGeom prst="roundRect">
            <a:avLst>
              <a:gd name="adj" fmla="val 6977"/>
            </a:avLst>
          </a:prstGeom>
          <a:solidFill>
            <a:srgbClr val="1A3557"/>
          </a:solidFill>
          <a:ln/>
        </p:spPr>
      </p:sp>
      <p:sp>
        <p:nvSpPr>
          <p:cNvPr id="22" name="Shape 14"/>
          <p:cNvSpPr/>
          <p:nvPr/>
        </p:nvSpPr>
        <p:spPr>
          <a:xfrm>
            <a:off x="6519672" y="3767328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6" descr="icons/rotate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527" y="3977183"/>
            <a:ext cx="357530" cy="357530"/>
          </a:xfrm>
          <a:prstGeom prst="rect">
            <a:avLst/>
          </a:prstGeom>
        </p:spPr>
      </p:pic>
      <p:pic>
        <p:nvPicPr>
          <p:cNvPr id="24" name="Image 7" descr="icons/check-amb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64240" y="3703320"/>
            <a:ext cx="320040" cy="32004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498080" y="37033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FC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shipped v2 with zero downtime — and un-shipped it with one command</a:t>
            </a:r>
            <a:endParaRPr lang="en-US" sz="1700" dirty="0"/>
          </a:p>
        </p:txBody>
      </p:sp>
      <p:sp>
        <p:nvSpPr>
          <p:cNvPr id="26" name="Text 16"/>
          <p:cNvSpPr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it on the laptop in front of you — no cloud, no bill, nothing you cannot rebuild with minikube delete &amp;&amp; minikube start.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&amp; Kubernetes we skipped on purpose — for later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box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46" y="1691274"/>
            <a:ext cx="201900" cy="2019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99616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further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for multi-container dev · multi-stage builds for small images · image scanning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263640" y="157276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node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146" y="1691274"/>
            <a:ext cx="201900" cy="201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499616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further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charts (the package manager) · RBAC &amp; Secrets · liveness/readiness probes · StatefulSets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05409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networ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46" y="3172602"/>
            <a:ext cx="201900" cy="201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98094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networking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Services actually route: kube-proxy, cluster DNS (my-svc.my-ns.svc), NetworkPolicies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263640" y="305409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icons/dis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146" y="3172602"/>
            <a:ext cx="201900" cy="201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03720" y="2980944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workloads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PersistentVolumes &amp; PersistentVolumeClaims — volumes' Kubernetes cousins, for data that must outlive pods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548640" y="453542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icons/search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146" y="4653930"/>
            <a:ext cx="201900" cy="2019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46227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ops side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logging and alerting (Cloud Monitoring, Prometheus, Grafana) — a course of its own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263640" y="453542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5" descr="icons/cloud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146" y="4653930"/>
            <a:ext cx="201900" cy="2019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903720" y="446227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skipped — scheduled</a:t>
            </a:r>
            <a:endParaRPr lang="en-US" sz="14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Registries, GKE, Ingress, Terraform and Ansible are not missing from today. They ARE tomorrow.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45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 enough to read the documentation of any of these and not be lost. That was the promise of today.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— the big guns: GKE, Terraform &amp; Ansible on Google Cloud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EEF3F7"/>
          </a:solidFill>
          <a:ln/>
        </p:spPr>
      </p:sp>
      <p:sp>
        <p:nvSpPr>
          <p:cNvPr id="7" name="Shape 5"/>
          <p:cNvSpPr/>
          <p:nvPr/>
        </p:nvSpPr>
        <p:spPr>
          <a:xfrm>
            <a:off x="122529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upload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806" y="2300630"/>
            <a:ext cx="336499" cy="336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30358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your image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7512" y="343814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private cloud registry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578608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788920" y="182880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EEF3F7"/>
          </a:solidFill>
          <a:ln/>
        </p:spPr>
      </p:sp>
      <p:sp>
        <p:nvSpPr>
          <p:cNvPr id="13" name="Shape 10"/>
          <p:cNvSpPr/>
          <p:nvPr/>
        </p:nvSpPr>
        <p:spPr>
          <a:xfrm>
            <a:off x="346557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cloud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86" y="2300630"/>
            <a:ext cx="336499" cy="33649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16352" y="30358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Google-sized cluster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907792" y="343814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GKE, shared by the class via namespaces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18888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029200" y="182880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EEF3F7"/>
          </a:solidFill>
          <a:ln/>
        </p:spPr>
      </p:sp>
      <p:sp>
        <p:nvSpPr>
          <p:cNvPr id="19" name="Shape 15"/>
          <p:cNvSpPr/>
          <p:nvPr/>
        </p:nvSpPr>
        <p:spPr>
          <a:xfrm>
            <a:off x="570585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icons/glob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366" y="2300630"/>
            <a:ext cx="336499" cy="33649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56632" y="30358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hostname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148072" y="343814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userNN.gkecluster.eunoai.my — yours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7059168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7269480" y="182880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E3EEF4"/>
          </a:solidFill>
          <a:ln/>
        </p:spPr>
      </p:sp>
      <p:sp>
        <p:nvSpPr>
          <p:cNvPr id="25" name="Shape 20"/>
          <p:cNvSpPr/>
          <p:nvPr/>
        </p:nvSpPr>
        <p:spPr>
          <a:xfrm>
            <a:off x="794613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3" descr="icons/filecode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646" y="2300630"/>
            <a:ext cx="336499" cy="33649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96912" y="30358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388352" y="343814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conjure cloud VMs from code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9299448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9509760" y="1828800"/>
            <a:ext cx="2084832" cy="2377440"/>
          </a:xfrm>
          <a:prstGeom prst="roundRect">
            <a:avLst>
              <a:gd name="adj" fmla="val 5263"/>
            </a:avLst>
          </a:prstGeom>
          <a:solidFill>
            <a:srgbClr val="E3EEF4"/>
          </a:solidFill>
          <a:ln/>
        </p:spPr>
      </p:sp>
      <p:sp>
        <p:nvSpPr>
          <p:cNvPr id="31" name="Shape 25"/>
          <p:cNvSpPr/>
          <p:nvPr/>
        </p:nvSpPr>
        <p:spPr>
          <a:xfrm>
            <a:off x="10186416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4" descr="icons/gears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926" y="2300630"/>
            <a:ext cx="336499" cy="336499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537192" y="303580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9628632" y="3438144"/>
            <a:ext cx="1847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them without logging in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0243E"/>
          </a:solidFill>
          <a:ln/>
        </p:spPr>
      </p:sp>
      <p:pic>
        <p:nvPicPr>
          <p:cNvPr id="36" name="Image 5" descr="icons/key-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056632"/>
            <a:ext cx="438912" cy="4389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463040" y="4663440"/>
            <a:ext cx="10012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 (5 min, do it now):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your service-account key file and run the three gcloud auth commands on the handout. A working login tonight = a running start at 8:30.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058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DAY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063240" y="365760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key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6808" y="3771168"/>
            <a:ext cx="193487" cy="1934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0" y="365760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your key file + run the 3 auth commands before you leave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063240" y="431596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flas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808" y="4429536"/>
            <a:ext cx="193487" cy="19348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4315968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is yours forever — keep experimenting tonight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063240" y="497433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boo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808" y="5087904"/>
            <a:ext cx="193487" cy="1934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57600" y="4974336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Lab Guide has a “further reading” section per module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31520" y="60350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8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Straightcut IT Solution  ·  Managing Docker &amp; Kubernetes Clusters with Ansible and Terraform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2026-07-14T12:35:02Z</dcterms:created>
  <dcterms:modified xsi:type="dcterms:W3CDTF">2026-07-14T12:35:02Z</dcterms:modified>
</cp:coreProperties>
</file>